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256" r:id="rId2"/>
    <p:sldId id="268" r:id="rId3"/>
    <p:sldId id="291" r:id="rId4"/>
    <p:sldId id="297" r:id="rId5"/>
    <p:sldId id="263" r:id="rId6"/>
    <p:sldId id="265" r:id="rId7"/>
    <p:sldId id="269" r:id="rId8"/>
    <p:sldId id="276" r:id="rId9"/>
    <p:sldId id="264" r:id="rId10"/>
    <p:sldId id="278" r:id="rId11"/>
    <p:sldId id="293" r:id="rId12"/>
    <p:sldId id="277" r:id="rId13"/>
    <p:sldId id="294" r:id="rId14"/>
    <p:sldId id="279" r:id="rId15"/>
    <p:sldId id="306" r:id="rId16"/>
    <p:sldId id="295" r:id="rId17"/>
    <p:sldId id="266" r:id="rId18"/>
    <p:sldId id="272" r:id="rId19"/>
    <p:sldId id="281" r:id="rId20"/>
    <p:sldId id="270" r:id="rId21"/>
    <p:sldId id="273" r:id="rId22"/>
    <p:sldId id="289" r:id="rId23"/>
    <p:sldId id="282" r:id="rId24"/>
    <p:sldId id="284" r:id="rId25"/>
    <p:sldId id="286" r:id="rId26"/>
    <p:sldId id="287" r:id="rId27"/>
    <p:sldId id="301" r:id="rId28"/>
    <p:sldId id="275" r:id="rId29"/>
    <p:sldId id="298" r:id="rId30"/>
    <p:sldId id="304" r:id="rId31"/>
    <p:sldId id="299" r:id="rId32"/>
    <p:sldId id="302" r:id="rId33"/>
  </p:sldIdLst>
  <p:sldSz cx="9144000" cy="6858000" type="screen4x3"/>
  <p:notesSz cx="6797675" cy="9926638"/>
  <p:defaultTextStyle>
    <a:defPPr>
      <a:defRPr lang="en-GB"/>
    </a:defPPr>
    <a:lvl1pPr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">
      <a:spcBef>
        <a:spcPct val="3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852"/>
    <a:srgbClr val="FABE00"/>
    <a:srgbClr val="D6A300"/>
    <a:srgbClr val="A47D00"/>
    <a:srgbClr val="A8034F"/>
    <a:srgbClr val="FFFFFF"/>
    <a:srgbClr val="A8B50A"/>
    <a:srgbClr val="007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73" autoAdjust="0"/>
    <p:restoredTop sz="89984" autoAdjust="0"/>
  </p:normalViewPr>
  <p:slideViewPr>
    <p:cSldViewPr snapToGrid="0">
      <p:cViewPr>
        <p:scale>
          <a:sx n="100" d="100"/>
          <a:sy n="100" d="100"/>
        </p:scale>
        <p:origin x="-54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366" y="-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fld id="{44AF512D-E224-4E93-B1D1-FE2471EDF04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8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defRPr sz="1200"/>
            </a:lvl1pPr>
          </a:lstStyle>
          <a:p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defRPr sz="1200"/>
            </a:lvl1pPr>
          </a:lstStyle>
          <a:p>
            <a:fld id="{164B663F-FE7E-487F-B07F-3A770B0BE14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0637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B663F-FE7E-487F-B07F-3A770B0BE14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22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http://</a:t>
            </a:r>
            <a:r>
              <a:rPr lang="en-GB" dirty="0" err="1" smtClean="0"/>
              <a:t>elections.huffingtonpost.com</a:t>
            </a:r>
            <a:r>
              <a:rPr lang="en-GB" dirty="0" smtClean="0"/>
              <a:t>/2016/forecast/president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B663F-FE7E-487F-B07F-3A770B0BE146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764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https://</a:t>
            </a:r>
            <a:r>
              <a:rPr lang="en-GB" dirty="0" err="1" smtClean="0"/>
              <a:t>www.nytimes.com</a:t>
            </a:r>
            <a:r>
              <a:rPr lang="en-GB" dirty="0" smtClean="0"/>
              <a:t>/interactive/2016/upshot/presidential-polls-</a:t>
            </a:r>
            <a:r>
              <a:rPr lang="en-GB" smtClean="0"/>
              <a:t>forecast.html</a:t>
            </a:r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B663F-FE7E-487F-B07F-3A770B0BE14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12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https://</a:t>
            </a:r>
            <a:r>
              <a:rPr lang="en-GB" dirty="0" err="1" smtClean="0"/>
              <a:t>projects.fivethirtyeight.com</a:t>
            </a:r>
            <a:r>
              <a:rPr lang="en-GB" dirty="0" smtClean="0"/>
              <a:t>/2016-election-forecast/#plus</a:t>
            </a:r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B663F-FE7E-487F-B07F-3A770B0BE146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148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jpeg"/><Relationship Id="rId6" Type="http://schemas.openxmlformats.org/officeDocument/2006/relationships/image" Target="../media/image7.tif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592090"/>
            <a:ext cx="9144000" cy="426591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137" name="Picture 17" descr="Uok_Logo_PMS294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32" y="299722"/>
            <a:ext cx="1007492" cy="5467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467544" y="299723"/>
            <a:ext cx="2808312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GB" sz="1200" dirty="0" smtClean="0">
                <a:solidFill>
                  <a:srgbClr val="002060"/>
                </a:solidFill>
              </a:rPr>
              <a:t>The UK’s European university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989117"/>
            <a:ext cx="4176464" cy="1512168"/>
          </a:xfrm>
          <a:solidFill>
            <a:schemeClr val="tx2">
              <a:lumMod val="75000"/>
            </a:schemeClr>
          </a:solidFill>
        </p:spPr>
        <p:txBody>
          <a:bodyPr lIns="252000" tIns="273600" rIns="252000"/>
          <a:lstStyle>
            <a:lvl1pPr marL="0" indent="0">
              <a:lnSpc>
                <a:spcPts val="2500"/>
              </a:lnSpc>
              <a:buNone/>
              <a:defRPr sz="2400" spc="-100" baseline="0">
                <a:solidFill>
                  <a:schemeClr val="bg1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TYPE YOUR HEADING HERE 2014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5" y="2488937"/>
            <a:ext cx="4176464" cy="664498"/>
          </a:xfrm>
          <a:solidFill>
            <a:schemeClr val="tx2">
              <a:lumMod val="75000"/>
            </a:schemeClr>
          </a:solidFill>
        </p:spPr>
        <p:txBody>
          <a:bodyPr lIns="252000" tIns="0" rIns="252000" bIns="154800" anchor="ctr" anchorCtr="0"/>
          <a:lstStyle>
            <a:lvl1pPr marL="0" indent="0">
              <a:lnSpc>
                <a:spcPts val="1380"/>
              </a:lnSpc>
              <a:spcBef>
                <a:spcPts val="0"/>
              </a:spcBef>
              <a:buNone/>
              <a:defRPr sz="1400" i="1" spc="-50">
                <a:solidFill>
                  <a:srgbClr val="D6A300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Sub heading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273800" y="1447800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860" y="0"/>
            <a:ext cx="9143999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 bwMode="auto">
          <a:xfrm flipH="1">
            <a:off x="971600" y="1268760"/>
            <a:ext cx="432048" cy="1800200"/>
          </a:xfrm>
          <a:prstGeom prst="line">
            <a:avLst/>
          </a:prstGeom>
          <a:noFill/>
          <a:ln w="25400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 userDrawn="1"/>
        </p:nvSpPr>
        <p:spPr>
          <a:xfrm>
            <a:off x="1547664" y="1196752"/>
            <a:ext cx="4392488" cy="2403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ts val="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800" spc="-100" dirty="0" smtClean="0">
                <a:solidFill>
                  <a:srgbClr val="A47D00"/>
                </a:solidFill>
                <a:latin typeface="Century Schoolbook"/>
                <a:cs typeface="Century Schoolbook"/>
              </a:rPr>
              <a:t>THE UK’S EUROPEAN UNIVERSITY</a:t>
            </a:r>
          </a:p>
          <a:p>
            <a:endParaRPr lang="en-US" dirty="0"/>
          </a:p>
        </p:txBody>
      </p:sp>
      <p:pic>
        <p:nvPicPr>
          <p:cNvPr id="15" name="Picture 14" descr="Uok_Logo_wh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5556684"/>
            <a:ext cx="1387978" cy="752636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1547664" y="5949280"/>
            <a:ext cx="2736304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sz="2000" kern="1400" spc="-100" dirty="0" err="1" smtClean="0">
                <a:solidFill>
                  <a:schemeClr val="bg1"/>
                </a:solidFill>
                <a:latin typeface="Century Schoolbook"/>
                <a:cs typeface="Century Schoolbook"/>
              </a:rPr>
              <a:t>www.kent.ac.uk</a:t>
            </a:r>
            <a:endParaRPr lang="en-US" sz="2000" kern="1400" spc="-100" dirty="0">
              <a:solidFill>
                <a:schemeClr val="bg1"/>
              </a:solidFill>
              <a:latin typeface="Century Schoolbook"/>
              <a:cs typeface="Century Schoolbook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549959" y="5585850"/>
            <a:ext cx="1356664" cy="284120"/>
            <a:chOff x="1547664" y="5589240"/>
            <a:chExt cx="1523655" cy="319092"/>
          </a:xfrm>
        </p:grpSpPr>
        <p:pic>
          <p:nvPicPr>
            <p:cNvPr id="2" name="Picture 1" descr="Facebook__very_small.eps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7664" y="5589240"/>
              <a:ext cx="324260" cy="312595"/>
            </a:xfrm>
            <a:prstGeom prst="rect">
              <a:avLst/>
            </a:prstGeom>
          </p:spPr>
        </p:pic>
        <p:pic>
          <p:nvPicPr>
            <p:cNvPr id="3" name="Picture 2" descr="twitter-bird-white-on-blue_small.eps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9042"/>
            <a:stretch/>
          </p:blipFill>
          <p:spPr>
            <a:xfrm>
              <a:off x="1941392" y="5589240"/>
              <a:ext cx="330409" cy="312115"/>
            </a:xfrm>
            <a:prstGeom prst="rect">
              <a:avLst/>
            </a:prstGeom>
          </p:spPr>
        </p:pic>
        <p:pic>
          <p:nvPicPr>
            <p:cNvPr id="7" name="Picture 6" descr="LI_brand.jpg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2" t="6533" r="3179" b="3587"/>
            <a:stretch/>
          </p:blipFill>
          <p:spPr>
            <a:xfrm>
              <a:off x="2755635" y="5589240"/>
              <a:ext cx="315684" cy="319092"/>
            </a:xfrm>
            <a:prstGeom prst="rect">
              <a:avLst/>
            </a:prstGeom>
          </p:spPr>
        </p:pic>
        <p:pic>
          <p:nvPicPr>
            <p:cNvPr id="8" name="Picture 7" descr="youtube.tif"/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4" t="7968" r="10058" b="11869"/>
            <a:stretch/>
          </p:blipFill>
          <p:spPr>
            <a:xfrm>
              <a:off x="2346244" y="5589240"/>
              <a:ext cx="330650" cy="312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697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38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section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0" y="260648"/>
            <a:ext cx="9144000" cy="612068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499992" y="764704"/>
            <a:ext cx="4176464" cy="1584176"/>
          </a:xfrm>
          <a:solidFill>
            <a:schemeClr val="tx2">
              <a:lumMod val="75000"/>
            </a:schemeClr>
          </a:solidFill>
        </p:spPr>
        <p:txBody>
          <a:bodyPr lIns="720000" tIns="273600" rIns="360000"/>
          <a:lstStyle>
            <a:lvl1pPr marL="0" indent="0">
              <a:lnSpc>
                <a:spcPts val="2600"/>
              </a:lnSpc>
              <a:buNone/>
              <a:defRPr sz="2400" spc="-100">
                <a:solidFill>
                  <a:srgbClr val="A47D00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499993" y="2276872"/>
            <a:ext cx="4176464" cy="935658"/>
          </a:xfrm>
          <a:solidFill>
            <a:srgbClr val="002A62"/>
          </a:solidFill>
          <a:ln>
            <a:noFill/>
          </a:ln>
        </p:spPr>
        <p:txBody>
          <a:bodyPr lIns="720000" rIns="360000" bIns="108000"/>
          <a:lstStyle>
            <a:lvl1pPr marL="0" indent="0">
              <a:lnSpc>
                <a:spcPts val="1480"/>
              </a:lnSpc>
              <a:spcBef>
                <a:spcPts val="0"/>
              </a:spcBef>
              <a:buNone/>
              <a:defRPr sz="1400" b="0" i="1" spc="-5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3" name="Straight Connector 2"/>
          <p:cNvCxnSpPr/>
          <p:nvPr userDrawn="1"/>
        </p:nvCxnSpPr>
        <p:spPr bwMode="auto">
          <a:xfrm flipH="1">
            <a:off x="4860032" y="1052736"/>
            <a:ext cx="216024" cy="1224136"/>
          </a:xfrm>
          <a:prstGeom prst="line">
            <a:avLst/>
          </a:prstGeom>
          <a:noFill/>
          <a:ln w="15875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5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0" y="260648"/>
            <a:ext cx="9144000" cy="612068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764704"/>
            <a:ext cx="4176464" cy="1584176"/>
          </a:xfrm>
          <a:solidFill>
            <a:schemeClr val="tx2">
              <a:lumMod val="75000"/>
            </a:schemeClr>
          </a:solidFill>
        </p:spPr>
        <p:txBody>
          <a:bodyPr lIns="720000" tIns="273600" rIns="360000"/>
          <a:lstStyle>
            <a:lvl1pPr marL="0" indent="0">
              <a:lnSpc>
                <a:spcPts val="2600"/>
              </a:lnSpc>
              <a:buNone/>
              <a:defRPr sz="2400" spc="-100">
                <a:solidFill>
                  <a:srgbClr val="A47D00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67545" y="2348880"/>
            <a:ext cx="4176464" cy="720080"/>
          </a:xfrm>
          <a:solidFill>
            <a:schemeClr val="tx2">
              <a:lumMod val="75000"/>
            </a:schemeClr>
          </a:solidFill>
        </p:spPr>
        <p:txBody>
          <a:bodyPr lIns="720000" rIns="360000" bIns="108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 bwMode="auto">
          <a:xfrm flipH="1">
            <a:off x="827584" y="1052736"/>
            <a:ext cx="216024" cy="1224136"/>
          </a:xfrm>
          <a:prstGeom prst="line">
            <a:avLst/>
          </a:prstGeom>
          <a:noFill/>
          <a:ln w="15875" cap="flat" cmpd="sng" algn="ctr">
            <a:solidFill>
              <a:srgbClr val="A47D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37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19872" y="1494509"/>
            <a:ext cx="2376264" cy="1728192"/>
          </a:xfrm>
        </p:spPr>
        <p:txBody>
          <a:bodyPr tIns="46800"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372200" y="1484784"/>
            <a:ext cx="2376264" cy="172819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67544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6372200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3433157" y="3861048"/>
            <a:ext cx="2376264" cy="2088232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3419872" y="3229754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Caption</a:t>
            </a:r>
            <a:endParaRPr lang="en-GB" sz="1600" dirty="0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67544" y="1484784"/>
            <a:ext cx="2376264" cy="1728192"/>
          </a:xfrm>
        </p:spPr>
        <p:txBody>
          <a:bodyPr tIns="46800" anchor="b"/>
          <a:lstStyle>
            <a:lvl1pPr marL="0" indent="0"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468313" y="3228975"/>
            <a:ext cx="2374900" cy="33933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8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484313"/>
            <a:ext cx="341630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0613" y="1484313"/>
            <a:ext cx="341630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6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4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0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69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801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4704"/>
            <a:ext cx="5111750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13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Footer text</a:t>
            </a:r>
            <a:endParaRPr lang="en-GB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5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9275"/>
            <a:ext cx="829151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GB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484313"/>
            <a:ext cx="69850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8200" y="6505575"/>
            <a:ext cx="60579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/>
            </a:lvl1pPr>
          </a:lstStyle>
          <a:p>
            <a:r>
              <a:rPr lang="en-GB" dirty="0" smtClean="0"/>
              <a:t>Footer text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-1588"/>
            <a:ext cx="9144000" cy="2873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4105" name="Picture 9" descr="Uok_horiz_PMS29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53200"/>
            <a:ext cx="1368425" cy="201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52400" y="6489700"/>
            <a:ext cx="6731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 smtClean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3" r:id="rId2"/>
    <p:sldLayoutId id="2147483651" r:id="rId3"/>
    <p:sldLayoutId id="2147483660" r:id="rId4"/>
    <p:sldLayoutId id="2147483661" r:id="rId5"/>
    <p:sldLayoutId id="2147483659" r:id="rId6"/>
    <p:sldLayoutId id="2147483653" r:id="rId7"/>
    <p:sldLayoutId id="2147483654" r:id="rId8"/>
    <p:sldLayoutId id="2147483655" r:id="rId9"/>
    <p:sldLayoutId id="2147483656" r:id="rId10"/>
    <p:sldLayoutId id="2147483662" r:id="rId11"/>
    <p:sldLayoutId id="2147483657" r:id="rId12"/>
    <p:sldLayoutId id="2147483658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55600" indent="-355600" algn="l" rtl="0" eaLnBrk="1" fontAlgn="ctr" hangingPunct="1">
        <a:spcBef>
          <a:spcPct val="35000"/>
        </a:spcBef>
        <a:spcAft>
          <a:spcPct val="0"/>
        </a:spcAft>
        <a:buClr>
          <a:schemeClr val="tx2"/>
        </a:buClr>
        <a:buSzPct val="17500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812800" indent="-277813" algn="l" rtl="0" eaLnBrk="1" fontAlgn="ctr" hangingPunct="1">
        <a:spcBef>
          <a:spcPct val="0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2000">
          <a:solidFill>
            <a:schemeClr val="tx1"/>
          </a:solidFill>
          <a:latin typeface="+mn-lt"/>
          <a:cs typeface="+mn-cs"/>
        </a:defRPr>
      </a:lvl2pPr>
      <a:lvl3pPr marL="1168400" indent="-176213" algn="l" rtl="0" eaLnBrk="1" fontAlgn="ctr" hangingPunct="1">
        <a:spcBef>
          <a:spcPct val="0"/>
        </a:spcBef>
        <a:spcAft>
          <a:spcPct val="0"/>
        </a:spcAft>
        <a:buFont typeface="Arial" pitchFamily="34" charset="0"/>
        <a:buChar char="–"/>
        <a:defRPr>
          <a:solidFill>
            <a:schemeClr val="tx1"/>
          </a:solidFill>
          <a:latin typeface="+mn-lt"/>
          <a:cs typeface="+mn-cs"/>
        </a:defRPr>
      </a:lvl3pPr>
      <a:lvl4pPr marL="1524000" indent="-176213" algn="l" rtl="0" eaLnBrk="1" fontAlgn="ctr" hangingPunct="1">
        <a:spcBef>
          <a:spcPct val="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8796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23368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7940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32512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708400" indent="-176213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67543" y="989116"/>
            <a:ext cx="4675956" cy="1728683"/>
          </a:xfrm>
        </p:spPr>
        <p:txBody>
          <a:bodyPr/>
          <a:lstStyle/>
          <a:p>
            <a:r>
              <a:rPr lang="en-US" dirty="0"/>
              <a:t>Why do opinion polls often get it wrong?</a:t>
            </a:r>
            <a:endParaRPr lang="en-US" dirty="0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7544" y="2819399"/>
            <a:ext cx="4675955" cy="1041663"/>
          </a:xfrm>
        </p:spPr>
        <p:txBody>
          <a:bodyPr/>
          <a:lstStyle/>
          <a:p>
            <a:pPr algn="r"/>
            <a:r>
              <a:rPr lang="en-US" dirty="0" smtClean="0"/>
              <a:t>Open </a:t>
            </a:r>
            <a:r>
              <a:rPr lang="en-US" dirty="0"/>
              <a:t>Forum, Monday 8 October</a:t>
            </a:r>
            <a:endParaRPr lang="en-US" dirty="0" smtClean="0"/>
          </a:p>
          <a:p>
            <a:pPr algn="r"/>
            <a:endParaRPr lang="en-US" dirty="0" smtClean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Erik Gahner Larsen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0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800" dirty="0" smtClean="0"/>
              <a:t>Do polls get it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7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My argument: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 smtClean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i="1" dirty="0" smtClean="0"/>
              <a:t>Most</a:t>
            </a:r>
            <a:r>
              <a:rPr lang="en-GB" sz="5000" dirty="0" smtClean="0"/>
              <a:t> polls </a:t>
            </a:r>
            <a:r>
              <a:rPr lang="en-GB" sz="5000" dirty="0" smtClean="0"/>
              <a:t>are doing just fine.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The way they are covered in the media is less fine</a:t>
            </a:r>
            <a:r>
              <a:rPr lang="mr-IN" sz="5000" dirty="0" smtClean="0"/>
              <a:t>…</a:t>
            </a:r>
            <a:endParaRPr lang="en-GB" sz="5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87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 smtClean="0"/>
              <a:t>Two </a:t>
            </a:r>
            <a:r>
              <a:rPr lang="en-GB" sz="4000" dirty="0" smtClean="0"/>
              <a:t>issues </a:t>
            </a:r>
            <a:r>
              <a:rPr lang="en-GB" sz="4000" dirty="0" smtClean="0"/>
              <a:t>with the coverage: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dirty="0" smtClean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 smtClean="0"/>
              <a:t>1) Percentage forecasts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dirty="0" smtClean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 smtClean="0"/>
              <a:t>2) The selection of opinion polls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1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5</a:t>
            </a:fld>
            <a:endParaRPr lang="en-US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750"/>
            <a:ext cx="77724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2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6</a:t>
            </a:fld>
            <a:endParaRPr lang="en-US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5451"/>
            <a:ext cx="9144000" cy="21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1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7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800" dirty="0" smtClean="0"/>
              <a:t>What is 85%?</a:t>
            </a:r>
          </a:p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GB" sz="7800" dirty="0" smtClean="0"/>
          </a:p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GB" sz="7800" dirty="0" smtClean="0"/>
              <a:t>5/6 ≈ 83%</a:t>
            </a:r>
          </a:p>
          <a:p>
            <a:pPr mar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GB" sz="8000" dirty="0"/>
              <a:t>(roll of the dice)</a:t>
            </a:r>
          </a:p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GB" sz="78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800" dirty="0"/>
          </a:p>
        </p:txBody>
      </p:sp>
    </p:spTree>
    <p:extLst>
      <p:ext uri="{BB962C8B-B14F-4D97-AF65-F5344CB8AC3E}">
        <p14:creationId xmlns:p14="http://schemas.microsoft.com/office/powerpoint/2010/main" val="22978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7325"/>
            <a:ext cx="6794500" cy="43301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3" y="2949575"/>
            <a:ext cx="7419207" cy="414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9</a:t>
            </a:fld>
            <a:endParaRPr lang="en-US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286" y="374650"/>
            <a:ext cx="6302935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10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Be critical when you see predictions in percentages!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6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“75% chance for Y”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44513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11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What </a:t>
            </a:r>
            <a:r>
              <a:rPr lang="en-GB" sz="6000" dirty="0"/>
              <a:t>c</a:t>
            </a:r>
            <a:r>
              <a:rPr lang="en-GB" sz="6000" dirty="0" smtClean="0"/>
              <a:t>ould a 75% chance for a Leave vote look like?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6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 smtClean="0"/>
              <a:t>53% support Leave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 smtClean="0"/>
              <a:t>47% support Remain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3536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412750"/>
            <a:ext cx="6756400" cy="6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13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Do people perceive the probability of a win as greater when presented with a percentage forecast?</a:t>
            </a:r>
          </a:p>
        </p:txBody>
      </p:sp>
    </p:spTree>
    <p:extLst>
      <p:ext uri="{BB962C8B-B14F-4D97-AF65-F5344CB8AC3E}">
        <p14:creationId xmlns:p14="http://schemas.microsoft.com/office/powerpoint/2010/main" val="20791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91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0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15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Second problem: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6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The selection of polls being covered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53091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16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130301"/>
            <a:ext cx="87503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What is going on in most polls?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6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0" dirty="0" smtClean="0"/>
              <a:t>Nothing.</a:t>
            </a:r>
          </a:p>
        </p:txBody>
      </p:sp>
    </p:spTree>
    <p:extLst>
      <p:ext uri="{BB962C8B-B14F-4D97-AF65-F5344CB8AC3E}">
        <p14:creationId xmlns:p14="http://schemas.microsoft.com/office/powerpoint/2010/main" val="31795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58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18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Most polls show little to no change over short periods of time!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Why do we see so many stories about change?</a:t>
            </a:r>
            <a:endParaRPr lang="en-GB" sz="5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/>
          </a:p>
        </p:txBody>
      </p:sp>
    </p:spTree>
    <p:extLst>
      <p:ext uri="{BB962C8B-B14F-4D97-AF65-F5344CB8AC3E}">
        <p14:creationId xmlns:p14="http://schemas.microsoft.com/office/powerpoint/2010/main" val="2745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19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Media </a:t>
            </a:r>
            <a:r>
              <a:rPr lang="en-GB" sz="5000" dirty="0" smtClean="0"/>
              <a:t>outlets select “outlier” polls and write about </a:t>
            </a:r>
            <a:r>
              <a:rPr lang="en-GB" sz="5000" dirty="0" smtClean="0"/>
              <a:t>changes </a:t>
            </a:r>
            <a:r>
              <a:rPr lang="en-GB" sz="5000" dirty="0" smtClean="0"/>
              <a:t>(even when there is no change!)</a:t>
            </a:r>
            <a:endParaRPr lang="en-GB" sz="5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/>
          </a:p>
        </p:txBody>
      </p:sp>
    </p:spTree>
    <p:extLst>
      <p:ext uri="{BB962C8B-B14F-4D97-AF65-F5344CB8AC3E}">
        <p14:creationId xmlns:p14="http://schemas.microsoft.com/office/powerpoint/2010/main" val="204627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7100"/>
            <a:ext cx="9059623" cy="49022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-208280"/>
            <a:ext cx="8705850" cy="69646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3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22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So there are problems with the coverage? What about the polls themselves? Are they wrong?</a:t>
            </a:r>
            <a:endParaRPr lang="en-GB" sz="5000" dirty="0"/>
          </a:p>
        </p:txBody>
      </p:sp>
    </p:spTree>
    <p:extLst>
      <p:ext uri="{BB962C8B-B14F-4D97-AF65-F5344CB8AC3E}">
        <p14:creationId xmlns:p14="http://schemas.microsoft.com/office/powerpoint/2010/main" val="63938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75"/>
            <a:ext cx="9144000" cy="563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36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24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But are polls more likely to be wrong today?</a:t>
            </a:r>
            <a:endParaRPr lang="en-GB" sz="5000" dirty="0"/>
          </a:p>
        </p:txBody>
      </p:sp>
    </p:spTree>
    <p:extLst>
      <p:ext uri="{BB962C8B-B14F-4D97-AF65-F5344CB8AC3E}">
        <p14:creationId xmlns:p14="http://schemas.microsoft.com/office/powerpoint/2010/main" val="37360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25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But are polls more likely to be wrong today?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 smtClean="0"/>
              <a:t>NOPE</a:t>
            </a:r>
            <a:endParaRPr lang="en-GB" sz="5000" b="1" dirty="0"/>
          </a:p>
        </p:txBody>
      </p:sp>
    </p:spTree>
    <p:extLst>
      <p:ext uri="{BB962C8B-B14F-4D97-AF65-F5344CB8AC3E}">
        <p14:creationId xmlns:p14="http://schemas.microsoft.com/office/powerpoint/2010/main" val="188928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604"/>
            <a:ext cx="9144000" cy="642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41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27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We remember the bad polls and forget the good polls!</a:t>
            </a:r>
          </a:p>
        </p:txBody>
      </p:sp>
    </p:spTree>
    <p:extLst>
      <p:ext uri="{BB962C8B-B14F-4D97-AF65-F5344CB8AC3E}">
        <p14:creationId xmlns:p14="http://schemas.microsoft.com/office/powerpoint/2010/main" val="131872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28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Polls are not perfect, but…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5000" dirty="0" smtClean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 smtClean="0"/>
              <a:t>What is the alternative?</a:t>
            </a:r>
          </a:p>
        </p:txBody>
      </p:sp>
    </p:spTree>
    <p:extLst>
      <p:ext uri="{BB962C8B-B14F-4D97-AF65-F5344CB8AC3E}">
        <p14:creationId xmlns:p14="http://schemas.microsoft.com/office/powerpoint/2010/main" val="164815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29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How can we make sure journalists cover polls in a good way?</a:t>
            </a:r>
          </a:p>
        </p:txBody>
      </p:sp>
    </p:spTree>
    <p:extLst>
      <p:ext uri="{BB962C8B-B14F-4D97-AF65-F5344CB8AC3E}">
        <p14:creationId xmlns:p14="http://schemas.microsoft.com/office/powerpoint/2010/main" val="86803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30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GB" sz="5000" dirty="0" smtClean="0"/>
              <a:t>What are the effects of opinion polls</a:t>
            </a:r>
            <a:r>
              <a:rPr lang="en-GB" sz="5000" dirty="0"/>
              <a:t>? </a:t>
            </a:r>
            <a:endParaRPr lang="en-GB" sz="5000" dirty="0" smtClean="0"/>
          </a:p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GB" sz="5000" dirty="0"/>
          </a:p>
          <a:p>
            <a:pPr marL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GB" sz="5000" dirty="0" smtClean="0"/>
              <a:t>Are opinion </a:t>
            </a:r>
            <a:r>
              <a:rPr lang="en-GB" sz="5000" dirty="0"/>
              <a:t>polls self-fulfilling prophecies? </a:t>
            </a:r>
            <a:endParaRPr lang="en-GB" sz="5000" dirty="0" smtClean="0"/>
          </a:p>
        </p:txBody>
      </p:sp>
    </p:spTree>
    <p:extLst>
      <p:ext uri="{BB962C8B-B14F-4D97-AF65-F5344CB8AC3E}">
        <p14:creationId xmlns:p14="http://schemas.microsoft.com/office/powerpoint/2010/main" val="27741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31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Should we forbid opinion polls during election campaigns?</a:t>
            </a:r>
          </a:p>
        </p:txBody>
      </p:sp>
    </p:spTree>
    <p:extLst>
      <p:ext uri="{BB962C8B-B14F-4D97-AF65-F5344CB8AC3E}">
        <p14:creationId xmlns:p14="http://schemas.microsoft.com/office/powerpoint/2010/main" val="4338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r>
              <a:rPr lang="en-US" smtClean="0"/>
              <a:t>Page </a:t>
            </a:r>
            <a:fld id="{BB9ACB3B-81A4-6247-87B5-FC3E0A04C89B}" type="slidenum">
              <a:rPr lang="en-US" smtClean="0"/>
              <a:pPr algn="l"/>
              <a:t>32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06500" y="1130301"/>
            <a:ext cx="6654800" cy="5251450"/>
          </a:xfrm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dirty="0" smtClean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8092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ent2013">
  <a:themeElements>
    <a:clrScheme name="bulletsandcolours 1">
      <a:dk1>
        <a:srgbClr val="000000"/>
      </a:dk1>
      <a:lt1>
        <a:srgbClr val="FFFFFF"/>
      </a:lt1>
      <a:dk2>
        <a:srgbClr val="003882"/>
      </a:dk2>
      <a:lt2>
        <a:srgbClr val="808080"/>
      </a:lt2>
      <a:accent1>
        <a:srgbClr val="008AC4"/>
      </a:accent1>
      <a:accent2>
        <a:srgbClr val="A8034F"/>
      </a:accent2>
      <a:accent3>
        <a:srgbClr val="FFFFFF"/>
      </a:accent3>
      <a:accent4>
        <a:srgbClr val="000000"/>
      </a:accent4>
      <a:accent5>
        <a:srgbClr val="AAC4DE"/>
      </a:accent5>
      <a:accent6>
        <a:srgbClr val="980247"/>
      </a:accent6>
      <a:hlink>
        <a:srgbClr val="007A5E"/>
      </a:hlink>
      <a:folHlink>
        <a:srgbClr val="DE5433"/>
      </a:folHlink>
    </a:clrScheme>
    <a:fontScheme name="bulletsandcolour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ulletsandcolours 1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A8034F"/>
        </a:accent2>
        <a:accent3>
          <a:srgbClr val="FFFFFF"/>
        </a:accent3>
        <a:accent4>
          <a:srgbClr val="000000"/>
        </a:accent4>
        <a:accent5>
          <a:srgbClr val="AAC4DE"/>
        </a:accent5>
        <a:accent6>
          <a:srgbClr val="980247"/>
        </a:accent6>
        <a:hlink>
          <a:srgbClr val="007A5E"/>
        </a:hlink>
        <a:folHlink>
          <a:srgbClr val="DE5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2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A8034F"/>
        </a:accent2>
        <a:accent3>
          <a:srgbClr val="FBFBF9"/>
        </a:accent3>
        <a:accent4>
          <a:srgbClr val="000000"/>
        </a:accent4>
        <a:accent5>
          <a:srgbClr val="AAC4DE"/>
        </a:accent5>
        <a:accent6>
          <a:srgbClr val="980247"/>
        </a:accent6>
        <a:hlink>
          <a:srgbClr val="007A5E"/>
        </a:hlink>
        <a:folHlink>
          <a:srgbClr val="DE5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3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B8CCDE"/>
        </a:accent2>
        <a:accent3>
          <a:srgbClr val="FFFFFF"/>
        </a:accent3>
        <a:accent4>
          <a:srgbClr val="000000"/>
        </a:accent4>
        <a:accent5>
          <a:srgbClr val="AAC4DE"/>
        </a:accent5>
        <a:accent6>
          <a:srgbClr val="A6B9C9"/>
        </a:accent6>
        <a:hlink>
          <a:srgbClr val="00789C"/>
        </a:hlink>
        <a:folHlink>
          <a:srgbClr val="82B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4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8AC4"/>
        </a:accent1>
        <a:accent2>
          <a:srgbClr val="B8CCDE"/>
        </a:accent2>
        <a:accent3>
          <a:srgbClr val="FBFBF9"/>
        </a:accent3>
        <a:accent4>
          <a:srgbClr val="000000"/>
        </a:accent4>
        <a:accent5>
          <a:srgbClr val="AAC4DE"/>
        </a:accent5>
        <a:accent6>
          <a:srgbClr val="A6B9C9"/>
        </a:accent6>
        <a:hlink>
          <a:srgbClr val="00789C"/>
        </a:hlink>
        <a:folHlink>
          <a:srgbClr val="82B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5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B4035C"/>
        </a:accent1>
        <a:accent2>
          <a:srgbClr val="E29A74"/>
        </a:accent2>
        <a:accent3>
          <a:srgbClr val="FFFFFF"/>
        </a:accent3>
        <a:accent4>
          <a:srgbClr val="000000"/>
        </a:accent4>
        <a:accent5>
          <a:srgbClr val="D6AAB5"/>
        </a:accent5>
        <a:accent6>
          <a:srgbClr val="CD8B68"/>
        </a:accent6>
        <a:hlink>
          <a:srgbClr val="80293D"/>
        </a:hlink>
        <a:folHlink>
          <a:srgbClr val="D124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6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B4035C"/>
        </a:accent1>
        <a:accent2>
          <a:srgbClr val="E29A74"/>
        </a:accent2>
        <a:accent3>
          <a:srgbClr val="FBFBF9"/>
        </a:accent3>
        <a:accent4>
          <a:srgbClr val="000000"/>
        </a:accent4>
        <a:accent5>
          <a:srgbClr val="D6AAB5"/>
        </a:accent5>
        <a:accent6>
          <a:srgbClr val="CD8B68"/>
        </a:accent6>
        <a:hlink>
          <a:srgbClr val="80293D"/>
        </a:hlink>
        <a:folHlink>
          <a:srgbClr val="D124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7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664A78"/>
        </a:accent1>
        <a:accent2>
          <a:srgbClr val="A891B0"/>
        </a:accent2>
        <a:accent3>
          <a:srgbClr val="FFFFFF"/>
        </a:accent3>
        <a:accent4>
          <a:srgbClr val="000000"/>
        </a:accent4>
        <a:accent5>
          <a:srgbClr val="B8B1BE"/>
        </a:accent5>
        <a:accent6>
          <a:srgbClr val="98839F"/>
        </a:accent6>
        <a:hlink>
          <a:srgbClr val="C985A3"/>
        </a:hlink>
        <a:folHlink>
          <a:srgbClr val="DEAD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8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007A5E"/>
        </a:accent1>
        <a:accent2>
          <a:srgbClr val="A8B50A"/>
        </a:accent2>
        <a:accent3>
          <a:srgbClr val="FFFFFF"/>
        </a:accent3>
        <a:accent4>
          <a:srgbClr val="000000"/>
        </a:accent4>
        <a:accent5>
          <a:srgbClr val="AABEB6"/>
        </a:accent5>
        <a:accent6>
          <a:srgbClr val="98A408"/>
        </a:accent6>
        <a:hlink>
          <a:srgbClr val="75A38C"/>
        </a:hlink>
        <a:folHlink>
          <a:srgbClr val="D6D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9">
        <a:dk1>
          <a:srgbClr val="000000"/>
        </a:dk1>
        <a:lt1>
          <a:srgbClr val="FFFFFF"/>
        </a:lt1>
        <a:dk2>
          <a:srgbClr val="003882"/>
        </a:dk2>
        <a:lt2>
          <a:srgbClr val="808080"/>
        </a:lt2>
        <a:accent1>
          <a:srgbClr val="DE5433"/>
        </a:accent1>
        <a:accent2>
          <a:srgbClr val="E87D0D"/>
        </a:accent2>
        <a:accent3>
          <a:srgbClr val="FFFFFF"/>
        </a:accent3>
        <a:accent4>
          <a:srgbClr val="000000"/>
        </a:accent4>
        <a:accent5>
          <a:srgbClr val="ECB3AD"/>
        </a:accent5>
        <a:accent6>
          <a:srgbClr val="D2710B"/>
        </a:accent6>
        <a:hlink>
          <a:srgbClr val="FA8A75"/>
        </a:hlink>
        <a:folHlink>
          <a:srgbClr val="EDBD3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0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664A78"/>
        </a:accent1>
        <a:accent2>
          <a:srgbClr val="A891B0"/>
        </a:accent2>
        <a:accent3>
          <a:srgbClr val="FBFBF9"/>
        </a:accent3>
        <a:accent4>
          <a:srgbClr val="000000"/>
        </a:accent4>
        <a:accent5>
          <a:srgbClr val="B8B1BE"/>
        </a:accent5>
        <a:accent6>
          <a:srgbClr val="98839F"/>
        </a:accent6>
        <a:hlink>
          <a:srgbClr val="C985A3"/>
        </a:hlink>
        <a:folHlink>
          <a:srgbClr val="DEAD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1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007A5E"/>
        </a:accent1>
        <a:accent2>
          <a:srgbClr val="A8B50A"/>
        </a:accent2>
        <a:accent3>
          <a:srgbClr val="FBFBF9"/>
        </a:accent3>
        <a:accent4>
          <a:srgbClr val="000000"/>
        </a:accent4>
        <a:accent5>
          <a:srgbClr val="AABEB6"/>
        </a:accent5>
        <a:accent6>
          <a:srgbClr val="98A408"/>
        </a:accent6>
        <a:hlink>
          <a:srgbClr val="75A38C"/>
        </a:hlink>
        <a:folHlink>
          <a:srgbClr val="D6D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andcolours 12">
        <a:dk1>
          <a:srgbClr val="000000"/>
        </a:dk1>
        <a:lt1>
          <a:srgbClr val="F9F8F5"/>
        </a:lt1>
        <a:dk2>
          <a:srgbClr val="003882"/>
        </a:dk2>
        <a:lt2>
          <a:srgbClr val="808080"/>
        </a:lt2>
        <a:accent1>
          <a:srgbClr val="DE5433"/>
        </a:accent1>
        <a:accent2>
          <a:srgbClr val="E87D0D"/>
        </a:accent2>
        <a:accent3>
          <a:srgbClr val="FBFBF9"/>
        </a:accent3>
        <a:accent4>
          <a:srgbClr val="000000"/>
        </a:accent4>
        <a:accent5>
          <a:srgbClr val="ECB3AD"/>
        </a:accent5>
        <a:accent6>
          <a:srgbClr val="D2710B"/>
        </a:accent6>
        <a:hlink>
          <a:srgbClr val="FA8A75"/>
        </a:hlink>
        <a:folHlink>
          <a:srgbClr val="EDBD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369</Words>
  <Application>Microsoft Macintosh PowerPoint</Application>
  <PresentationFormat>On-screen Show (4:3)</PresentationFormat>
  <Paragraphs>90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Century Schoolbook</vt:lpstr>
      <vt:lpstr>Arial</vt:lpstr>
      <vt:lpstr>kent2013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University of Kent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Kent - Generic Powerpoint template</dc:title>
  <dc:subject/>
  <dc:creator>Miles Banbery</dc:creator>
  <cp:keywords/>
  <dc:description/>
  <cp:lastModifiedBy>Erik Gahner Larsen</cp:lastModifiedBy>
  <cp:revision>72</cp:revision>
  <dcterms:created xsi:type="dcterms:W3CDTF">2013-06-07T14:52:08Z</dcterms:created>
  <dcterms:modified xsi:type="dcterms:W3CDTF">2018-10-07T20:49:19Z</dcterms:modified>
  <cp:category/>
</cp:coreProperties>
</file>