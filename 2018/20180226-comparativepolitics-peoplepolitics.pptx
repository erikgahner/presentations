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6"/>
  </p:notesMasterIdLst>
  <p:handoutMasterIdLst>
    <p:handoutMasterId r:id="rId27"/>
  </p:handoutMasterIdLst>
  <p:sldIdLst>
    <p:sldId id="256" r:id="rId2"/>
    <p:sldId id="306" r:id="rId3"/>
    <p:sldId id="281" r:id="rId4"/>
    <p:sldId id="291" r:id="rId5"/>
    <p:sldId id="285" r:id="rId6"/>
    <p:sldId id="283" r:id="rId7"/>
    <p:sldId id="308" r:id="rId8"/>
    <p:sldId id="315" r:id="rId9"/>
    <p:sldId id="313" r:id="rId10"/>
    <p:sldId id="311" r:id="rId11"/>
    <p:sldId id="293" r:id="rId12"/>
    <p:sldId id="294" r:id="rId13"/>
    <p:sldId id="295" r:id="rId14"/>
    <p:sldId id="314" r:id="rId15"/>
    <p:sldId id="299" r:id="rId16"/>
    <p:sldId id="300" r:id="rId17"/>
    <p:sldId id="301" r:id="rId18"/>
    <p:sldId id="303" r:id="rId19"/>
    <p:sldId id="284" r:id="rId20"/>
    <p:sldId id="310" r:id="rId21"/>
    <p:sldId id="307" r:id="rId22"/>
    <p:sldId id="309" r:id="rId23"/>
    <p:sldId id="282" r:id="rId24"/>
    <p:sldId id="304" r:id="rId25"/>
  </p:sldIdLst>
  <p:sldSz cx="9144000" cy="6858000" type="screen4x3"/>
  <p:notesSz cx="6797675" cy="9926638"/>
  <p:defaultTextStyle>
    <a:defPPr>
      <a:defRPr lang="en-GB"/>
    </a:defPPr>
    <a:lvl1pPr algn="l" rtl="0" fontAlgn="b">
      <a:spcBef>
        <a:spcPct val="3000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">
      <a:spcBef>
        <a:spcPct val="3000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">
      <a:spcBef>
        <a:spcPct val="3000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">
      <a:spcBef>
        <a:spcPct val="3000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">
      <a:spcBef>
        <a:spcPct val="3000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D852"/>
    <a:srgbClr val="FABE00"/>
    <a:srgbClr val="D6A300"/>
    <a:srgbClr val="A47D00"/>
    <a:srgbClr val="A8034F"/>
    <a:srgbClr val="FFFFFF"/>
    <a:srgbClr val="A8B50A"/>
    <a:srgbClr val="007A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686" autoAdjust="0"/>
    <p:restoredTop sz="89984" autoAdjust="0"/>
  </p:normalViewPr>
  <p:slideViewPr>
    <p:cSldViewPr snapToGrid="0">
      <p:cViewPr varScale="1">
        <p:scale>
          <a:sx n="96" d="100"/>
          <a:sy n="96" d="100"/>
        </p:scale>
        <p:origin x="928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8" d="100"/>
          <a:sy n="78" d="100"/>
        </p:scale>
        <p:origin x="-3366" y="-108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defRPr sz="1200"/>
            </a:lvl1pPr>
          </a:lstStyle>
          <a:p>
            <a:endParaRPr lang="en-GB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base">
              <a:spcBef>
                <a:spcPct val="0"/>
              </a:spcBef>
              <a:defRPr sz="1200"/>
            </a:lvl1pPr>
          </a:lstStyle>
          <a:p>
            <a:endParaRPr lang="en-GB"/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defRPr sz="1200"/>
            </a:lvl1pPr>
          </a:lstStyle>
          <a:p>
            <a:endParaRPr lang="en-GB"/>
          </a:p>
        </p:txBody>
      </p:sp>
      <p:sp>
        <p:nvSpPr>
          <p:cNvPr id="368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fontAlgn="base">
              <a:spcBef>
                <a:spcPct val="0"/>
              </a:spcBef>
              <a:defRPr sz="1200"/>
            </a:lvl1pPr>
          </a:lstStyle>
          <a:p>
            <a:fld id="{44AF512D-E224-4E93-B1D1-FE2471EDF047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53845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defRPr sz="1200"/>
            </a:lvl1pPr>
          </a:lstStyle>
          <a:p>
            <a:endParaRPr lang="en-GB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base">
              <a:spcBef>
                <a:spcPct val="0"/>
              </a:spcBef>
              <a:defRPr sz="1200"/>
            </a:lvl1pPr>
          </a:lstStyle>
          <a:p>
            <a:endParaRPr lang="en-GB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4538"/>
            <a:ext cx="4965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defRPr sz="1200"/>
            </a:lvl1pPr>
          </a:lstStyle>
          <a:p>
            <a:endParaRPr lang="en-GB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fontAlgn="base">
              <a:spcBef>
                <a:spcPct val="0"/>
              </a:spcBef>
              <a:defRPr sz="1200"/>
            </a:lvl1pPr>
          </a:lstStyle>
          <a:p>
            <a:fld id="{164B663F-FE7E-487F-B07F-3A770B0BE146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106373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4B663F-FE7E-487F-B07F-3A770B0BE146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022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4" Type="http://schemas.openxmlformats.org/officeDocument/2006/relationships/image" Target="../media/image5.emf"/><Relationship Id="rId5" Type="http://schemas.openxmlformats.org/officeDocument/2006/relationships/image" Target="../media/image6.jpeg"/><Relationship Id="rId6" Type="http://schemas.openxmlformats.org/officeDocument/2006/relationships/image" Target="../media/image7.tiff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0" y="2592090"/>
            <a:ext cx="9144000" cy="4265910"/>
          </a:xfrm>
        </p:spPr>
        <p:txBody>
          <a:bodyPr/>
          <a:lstStyle/>
          <a:p>
            <a:endParaRPr lang="en-GB" dirty="0"/>
          </a:p>
        </p:txBody>
      </p:sp>
      <p:pic>
        <p:nvPicPr>
          <p:cNvPr id="5137" name="Picture 17" descr="Uok_Logo_PMS294_PC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932" y="299722"/>
            <a:ext cx="1007492" cy="54671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 userDrawn="1"/>
        </p:nvSpPr>
        <p:spPr>
          <a:xfrm>
            <a:off x="467544" y="299723"/>
            <a:ext cx="2808312" cy="2769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GB" sz="1200" dirty="0" smtClean="0">
                <a:solidFill>
                  <a:srgbClr val="002060"/>
                </a:solidFill>
              </a:rPr>
              <a:t>The UK’s European university</a:t>
            </a:r>
            <a:endParaRPr lang="en-GB" sz="1200" dirty="0">
              <a:solidFill>
                <a:srgbClr val="002060"/>
              </a:solidFill>
            </a:endParaRP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67544" y="989117"/>
            <a:ext cx="4176464" cy="1512168"/>
          </a:xfrm>
          <a:solidFill>
            <a:schemeClr val="tx2">
              <a:lumMod val="75000"/>
            </a:schemeClr>
          </a:solidFill>
        </p:spPr>
        <p:txBody>
          <a:bodyPr lIns="252000" tIns="273600" rIns="252000"/>
          <a:lstStyle>
            <a:lvl1pPr marL="0" indent="0">
              <a:lnSpc>
                <a:spcPts val="2500"/>
              </a:lnSpc>
              <a:buNone/>
              <a:defRPr sz="2400" spc="-100" baseline="0">
                <a:solidFill>
                  <a:schemeClr val="bg1"/>
                </a:solidFill>
                <a:latin typeface="Century Schoolbook" pitchFamily="18" charset="0"/>
              </a:defRPr>
            </a:lvl1pPr>
          </a:lstStyle>
          <a:p>
            <a:pPr lvl="0"/>
            <a:r>
              <a:rPr lang="en-US" dirty="0" smtClean="0"/>
              <a:t>TYPE YOUR HEADING HERE 2014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467545" y="2488937"/>
            <a:ext cx="4176464" cy="664498"/>
          </a:xfrm>
          <a:solidFill>
            <a:schemeClr val="tx2">
              <a:lumMod val="75000"/>
            </a:schemeClr>
          </a:solidFill>
        </p:spPr>
        <p:txBody>
          <a:bodyPr lIns="252000" tIns="0" rIns="252000" bIns="154800" anchor="ctr" anchorCtr="0"/>
          <a:lstStyle>
            <a:lvl1pPr marL="0" indent="0">
              <a:lnSpc>
                <a:spcPts val="1380"/>
              </a:lnSpc>
              <a:spcBef>
                <a:spcPts val="0"/>
              </a:spcBef>
              <a:buNone/>
              <a:defRPr sz="1400" i="1" spc="-50">
                <a:solidFill>
                  <a:srgbClr val="D6A300"/>
                </a:solidFill>
                <a:latin typeface="Century Schoolbook"/>
                <a:cs typeface="Century Schoolbook"/>
              </a:defRPr>
            </a:lvl1pPr>
          </a:lstStyle>
          <a:p>
            <a:pPr lvl="0"/>
            <a:r>
              <a:rPr lang="en-US" dirty="0" smtClean="0"/>
              <a:t>Sub heading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6273800" y="1447800"/>
            <a:ext cx="184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-1860" y="0"/>
            <a:ext cx="9143999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 bwMode="auto">
          <a:xfrm flipH="1">
            <a:off x="971600" y="1268760"/>
            <a:ext cx="432048" cy="1800200"/>
          </a:xfrm>
          <a:prstGeom prst="line">
            <a:avLst/>
          </a:prstGeom>
          <a:noFill/>
          <a:ln w="25400" cap="flat" cmpd="sng" algn="ctr">
            <a:solidFill>
              <a:srgbClr val="A47D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TextBox 11"/>
          <p:cNvSpPr txBox="1"/>
          <p:nvPr userDrawn="1"/>
        </p:nvSpPr>
        <p:spPr>
          <a:xfrm>
            <a:off x="1547664" y="1196752"/>
            <a:ext cx="4392488" cy="24037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b" latinLnBrk="0" hangingPunct="1">
              <a:lnSpc>
                <a:spcPts val="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800" spc="-100" dirty="0" smtClean="0">
                <a:solidFill>
                  <a:srgbClr val="A47D00"/>
                </a:solidFill>
                <a:latin typeface="Century Schoolbook"/>
                <a:cs typeface="Century Schoolbook"/>
              </a:rPr>
              <a:t>THE UK’S EUROPEAN UNIVERSITY</a:t>
            </a:r>
          </a:p>
          <a:p>
            <a:endParaRPr lang="en-US" dirty="0"/>
          </a:p>
        </p:txBody>
      </p:sp>
      <p:pic>
        <p:nvPicPr>
          <p:cNvPr id="15" name="Picture 14" descr="Uok_Logo_white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5556684"/>
            <a:ext cx="1387978" cy="752636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1547664" y="5949280"/>
            <a:ext cx="2736304" cy="30777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r>
              <a:rPr lang="en-US" sz="2000" kern="1400" spc="-100" dirty="0" err="1" smtClean="0">
                <a:solidFill>
                  <a:schemeClr val="bg1"/>
                </a:solidFill>
                <a:latin typeface="Century Schoolbook"/>
                <a:cs typeface="Century Schoolbook"/>
              </a:rPr>
              <a:t>www.kent.ac.uk</a:t>
            </a:r>
            <a:endParaRPr lang="en-US" sz="2000" kern="1400" spc="-100" dirty="0">
              <a:solidFill>
                <a:schemeClr val="bg1"/>
              </a:solidFill>
              <a:latin typeface="Century Schoolbook"/>
              <a:cs typeface="Century Schoolbook"/>
            </a:endParaRPr>
          </a:p>
        </p:txBody>
      </p:sp>
      <p:grpSp>
        <p:nvGrpSpPr>
          <p:cNvPr id="9" name="Group 8"/>
          <p:cNvGrpSpPr/>
          <p:nvPr userDrawn="1"/>
        </p:nvGrpSpPr>
        <p:grpSpPr>
          <a:xfrm>
            <a:off x="1549959" y="5585850"/>
            <a:ext cx="1356664" cy="284120"/>
            <a:chOff x="1547664" y="5589240"/>
            <a:chExt cx="1523655" cy="319092"/>
          </a:xfrm>
        </p:grpSpPr>
        <p:pic>
          <p:nvPicPr>
            <p:cNvPr id="2" name="Picture 1" descr="Facebook__very_small.eps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47664" y="5589240"/>
              <a:ext cx="324260" cy="312595"/>
            </a:xfrm>
            <a:prstGeom prst="rect">
              <a:avLst/>
            </a:prstGeom>
          </p:spPr>
        </p:pic>
        <p:pic>
          <p:nvPicPr>
            <p:cNvPr id="3" name="Picture 2" descr="twitter-bird-white-on-blue_small.eps"/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9042"/>
            <a:stretch/>
          </p:blipFill>
          <p:spPr>
            <a:xfrm>
              <a:off x="1941392" y="5589240"/>
              <a:ext cx="330409" cy="312115"/>
            </a:xfrm>
            <a:prstGeom prst="rect">
              <a:avLst/>
            </a:prstGeom>
          </p:spPr>
        </p:pic>
        <p:pic>
          <p:nvPicPr>
            <p:cNvPr id="7" name="Picture 6" descr="LI_brand.jpg"/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42" t="6533" r="3179" b="3587"/>
            <a:stretch/>
          </p:blipFill>
          <p:spPr>
            <a:xfrm>
              <a:off x="2755635" y="5589240"/>
              <a:ext cx="315684" cy="319092"/>
            </a:xfrm>
            <a:prstGeom prst="rect">
              <a:avLst/>
            </a:prstGeom>
          </p:spPr>
        </p:pic>
        <p:pic>
          <p:nvPicPr>
            <p:cNvPr id="8" name="Picture 7" descr="youtube.tif"/>
            <p:cNvPicPr>
              <a:picLocks noChangeAspect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44" t="7968" r="10058" b="11869"/>
            <a:stretch/>
          </p:blipFill>
          <p:spPr>
            <a:xfrm>
              <a:off x="2346244" y="5589240"/>
              <a:ext cx="330650" cy="3125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36972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smtClean="0"/>
              <a:t>Footer text</a:t>
            </a:r>
            <a:endParaRPr lang="en-GB" dirty="0"/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52400" y="6489700"/>
            <a:ext cx="673100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 smtClean="0"/>
              <a:t>Page </a:t>
            </a:r>
            <a:fld id="{BB9ACB3B-81A4-6247-87B5-FC3E0A04C89B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6387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section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/>
          <p:cNvSpPr>
            <a:spLocks noGrp="1"/>
          </p:cNvSpPr>
          <p:nvPr>
            <p:ph type="pic" sz="quarter" idx="14"/>
          </p:nvPr>
        </p:nvSpPr>
        <p:spPr>
          <a:xfrm>
            <a:off x="0" y="260648"/>
            <a:ext cx="9144000" cy="6120680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smtClean="0"/>
              <a:t>Footer text</a:t>
            </a:r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499992" y="764704"/>
            <a:ext cx="4176464" cy="1584176"/>
          </a:xfrm>
          <a:solidFill>
            <a:schemeClr val="tx2">
              <a:lumMod val="75000"/>
            </a:schemeClr>
          </a:solidFill>
        </p:spPr>
        <p:txBody>
          <a:bodyPr lIns="720000" tIns="273600" rIns="360000"/>
          <a:lstStyle>
            <a:lvl1pPr marL="0" indent="0">
              <a:lnSpc>
                <a:spcPts val="2600"/>
              </a:lnSpc>
              <a:buNone/>
              <a:defRPr sz="2400" spc="-100">
                <a:solidFill>
                  <a:srgbClr val="A47D00"/>
                </a:solidFill>
                <a:latin typeface="Century Schoolbook" pitchFamily="18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499993" y="2276872"/>
            <a:ext cx="4176464" cy="935658"/>
          </a:xfrm>
          <a:solidFill>
            <a:srgbClr val="002A62"/>
          </a:solidFill>
          <a:ln>
            <a:noFill/>
          </a:ln>
        </p:spPr>
        <p:txBody>
          <a:bodyPr lIns="720000" rIns="360000" bIns="108000"/>
          <a:lstStyle>
            <a:lvl1pPr marL="0" indent="0">
              <a:lnSpc>
                <a:spcPts val="1480"/>
              </a:lnSpc>
              <a:spcBef>
                <a:spcPts val="0"/>
              </a:spcBef>
              <a:buNone/>
              <a:defRPr sz="1400" b="0" i="1" spc="-50">
                <a:solidFill>
                  <a:schemeClr val="bg1"/>
                </a:solidFill>
                <a:latin typeface="Century Schoolbook"/>
                <a:cs typeface="Century Schoolbook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cxnSp>
        <p:nvCxnSpPr>
          <p:cNvPr id="3" name="Straight Connector 2"/>
          <p:cNvCxnSpPr/>
          <p:nvPr userDrawn="1"/>
        </p:nvCxnSpPr>
        <p:spPr bwMode="auto">
          <a:xfrm flipH="1">
            <a:off x="4860032" y="1052736"/>
            <a:ext cx="216024" cy="1224136"/>
          </a:xfrm>
          <a:prstGeom prst="line">
            <a:avLst/>
          </a:prstGeom>
          <a:noFill/>
          <a:ln w="15875" cap="flat" cmpd="sng" algn="ctr">
            <a:solidFill>
              <a:srgbClr val="A47D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52400" y="6489700"/>
            <a:ext cx="673100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 smtClean="0"/>
              <a:t>Page </a:t>
            </a:r>
            <a:fld id="{BB9ACB3B-81A4-6247-87B5-FC3E0A04C89B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857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ubsection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/>
          <p:cNvSpPr>
            <a:spLocks noGrp="1"/>
          </p:cNvSpPr>
          <p:nvPr>
            <p:ph type="pic" sz="quarter" idx="14"/>
          </p:nvPr>
        </p:nvSpPr>
        <p:spPr>
          <a:xfrm>
            <a:off x="0" y="260648"/>
            <a:ext cx="9144000" cy="6120680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smtClean="0"/>
              <a:t>Footer text</a:t>
            </a:r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67544" y="764704"/>
            <a:ext cx="4176464" cy="1584176"/>
          </a:xfrm>
          <a:solidFill>
            <a:schemeClr val="tx2">
              <a:lumMod val="75000"/>
            </a:schemeClr>
          </a:solidFill>
        </p:spPr>
        <p:txBody>
          <a:bodyPr lIns="720000" tIns="273600" rIns="360000"/>
          <a:lstStyle>
            <a:lvl1pPr marL="0" indent="0">
              <a:lnSpc>
                <a:spcPts val="2600"/>
              </a:lnSpc>
              <a:buNone/>
              <a:defRPr sz="2400" spc="-100">
                <a:solidFill>
                  <a:srgbClr val="A47D00"/>
                </a:solidFill>
                <a:latin typeface="Century Schoolbook" pitchFamily="18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67545" y="2348880"/>
            <a:ext cx="4176464" cy="720080"/>
          </a:xfrm>
          <a:solidFill>
            <a:schemeClr val="tx2">
              <a:lumMod val="75000"/>
            </a:schemeClr>
          </a:solidFill>
        </p:spPr>
        <p:txBody>
          <a:bodyPr lIns="720000" rIns="360000" bIns="108000"/>
          <a:lstStyle>
            <a:lvl1pPr marL="0" indent="0">
              <a:buNone/>
              <a:defRPr sz="1200" b="0" i="1">
                <a:solidFill>
                  <a:schemeClr val="bg1"/>
                </a:solidFill>
                <a:latin typeface="Century Schoolbook"/>
                <a:cs typeface="Century Schoolbook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cxnSp>
        <p:nvCxnSpPr>
          <p:cNvPr id="6" name="Straight Connector 5"/>
          <p:cNvCxnSpPr/>
          <p:nvPr userDrawn="1"/>
        </p:nvCxnSpPr>
        <p:spPr bwMode="auto">
          <a:xfrm flipH="1">
            <a:off x="827584" y="1052736"/>
            <a:ext cx="216024" cy="1224136"/>
          </a:xfrm>
          <a:prstGeom prst="line">
            <a:avLst/>
          </a:prstGeom>
          <a:noFill/>
          <a:ln w="15875" cap="flat" cmpd="sng" algn="ctr">
            <a:solidFill>
              <a:srgbClr val="A47D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52400" y="6489700"/>
            <a:ext cx="673100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 smtClean="0"/>
              <a:t>Page </a:t>
            </a:r>
            <a:fld id="{BB9ACB3B-81A4-6247-87B5-FC3E0A04C89B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0374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NL" smtClean="0"/>
              <a:t>Footer text</a:t>
            </a:r>
            <a:endParaRPr lang="en-GB" dirty="0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3419872" y="1494509"/>
            <a:ext cx="2376264" cy="1728192"/>
          </a:xfrm>
        </p:spPr>
        <p:txBody>
          <a:bodyPr tIns="46800" anchor="b"/>
          <a:lstStyle>
            <a:lvl1pPr marL="0" indent="0"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GB" dirty="0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6372200" y="1484784"/>
            <a:ext cx="2376264" cy="1728192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GB" dirty="0"/>
          </a:p>
        </p:txBody>
      </p:sp>
      <p:sp>
        <p:nvSpPr>
          <p:cNvPr id="17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467544" y="3861048"/>
            <a:ext cx="2376264" cy="2088232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GB" dirty="0"/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6372200" y="3861048"/>
            <a:ext cx="2376264" cy="2088232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GB" dirty="0"/>
          </a:p>
        </p:txBody>
      </p:sp>
      <p:sp>
        <p:nvSpPr>
          <p:cNvPr id="19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3433157" y="3861048"/>
            <a:ext cx="2376264" cy="2088232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GB" dirty="0"/>
          </a:p>
        </p:txBody>
      </p:sp>
      <p:sp>
        <p:nvSpPr>
          <p:cNvPr id="21" name="TextBox 20"/>
          <p:cNvSpPr txBox="1"/>
          <p:nvPr userDrawn="1"/>
        </p:nvSpPr>
        <p:spPr>
          <a:xfrm>
            <a:off x="3419872" y="3229754"/>
            <a:ext cx="2376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/>
              <a:t>Caption</a:t>
            </a:r>
            <a:endParaRPr lang="en-GB" sz="1600" dirty="0"/>
          </a:p>
        </p:txBody>
      </p:sp>
      <p:sp>
        <p:nvSpPr>
          <p:cNvPr id="22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467544" y="1484784"/>
            <a:ext cx="2376264" cy="1728192"/>
          </a:xfrm>
        </p:spPr>
        <p:txBody>
          <a:bodyPr tIns="46800" anchor="b"/>
          <a:lstStyle>
            <a:lvl1pPr marL="0" indent="0"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GB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22"/>
          </p:nvPr>
        </p:nvSpPr>
        <p:spPr>
          <a:xfrm>
            <a:off x="468313" y="3228975"/>
            <a:ext cx="2374900" cy="339333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52400" y="6489700"/>
            <a:ext cx="673100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 smtClean="0"/>
              <a:t>Page </a:t>
            </a:r>
            <a:fld id="{BB9ACB3B-81A4-6247-87B5-FC3E0A04C89B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685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31913" y="1484313"/>
            <a:ext cx="3416300" cy="4897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00613" y="1484313"/>
            <a:ext cx="3416300" cy="4897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smtClean="0"/>
              <a:t>Footer text</a:t>
            </a:r>
            <a:endParaRPr lang="en-GB"/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52400" y="6489700"/>
            <a:ext cx="673100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 smtClean="0"/>
              <a:t>Page </a:t>
            </a:r>
            <a:fld id="{BB9ACB3B-81A4-6247-87B5-FC3E0A04C89B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46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smtClean="0"/>
              <a:t>Footer text</a:t>
            </a:r>
            <a:endParaRPr lang="en-GB"/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152400" y="6489700"/>
            <a:ext cx="673100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 smtClean="0"/>
              <a:t>Page </a:t>
            </a:r>
            <a:fld id="{BB9ACB3B-81A4-6247-87B5-FC3E0A04C89B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340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smtClean="0"/>
              <a:t>Footer text</a:t>
            </a:r>
            <a:endParaRPr lang="en-GB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52400" y="6489700"/>
            <a:ext cx="673100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 smtClean="0"/>
              <a:t>Page </a:t>
            </a:r>
            <a:fld id="{BB9ACB3B-81A4-6247-87B5-FC3E0A04C89B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106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5695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smtClean="0"/>
              <a:t>Footer text</a:t>
            </a:r>
            <a:endParaRPr lang="en-GB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52400" y="6489700"/>
            <a:ext cx="673100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 smtClean="0"/>
              <a:t>Page </a:t>
            </a:r>
            <a:fld id="{BB9ACB3B-81A4-6247-87B5-FC3E0A04C89B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8011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764704"/>
            <a:ext cx="5111750" cy="536145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smtClean="0"/>
              <a:t>Footer text</a:t>
            </a:r>
            <a:endParaRPr lang="en-GB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52400" y="6489700"/>
            <a:ext cx="673100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 smtClean="0"/>
              <a:t>Page </a:t>
            </a:r>
            <a:fld id="{BB9ACB3B-81A4-6247-87B5-FC3E0A04C89B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2138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smtClean="0"/>
              <a:t>Footer text</a:t>
            </a:r>
            <a:endParaRPr lang="en-GB"/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52400" y="6489700"/>
            <a:ext cx="673100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 smtClean="0"/>
              <a:t>Page </a:t>
            </a:r>
            <a:fld id="{BB9ACB3B-81A4-6247-87B5-FC3E0A04C89B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953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549275"/>
            <a:ext cx="8291513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  <a:endParaRPr lang="en-GB" dirty="0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31913" y="1484313"/>
            <a:ext cx="6985000" cy="489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smtClean="0"/>
              <a:t>Click to edit Master text style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38200" y="6505575"/>
            <a:ext cx="6057900" cy="26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/>
            </a:lvl1pPr>
          </a:lstStyle>
          <a:p>
            <a:r>
              <a:rPr lang="en-GB" dirty="0" smtClean="0"/>
              <a:t>Footer text</a:t>
            </a:r>
          </a:p>
        </p:txBody>
      </p:sp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0" y="-1588"/>
            <a:ext cx="9144000" cy="28733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GB"/>
          </a:p>
        </p:txBody>
      </p:sp>
      <p:pic>
        <p:nvPicPr>
          <p:cNvPr id="4105" name="Picture 9" descr="Uok_horiz_PMS294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6553200"/>
            <a:ext cx="1368425" cy="20161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52400" y="6489700"/>
            <a:ext cx="673100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 smtClean="0"/>
              <a:t>Page </a:t>
            </a:r>
            <a:fld id="{BB9ACB3B-81A4-6247-87B5-FC3E0A04C89B}" type="slidenum">
              <a:rPr lang="en-US" smtClean="0"/>
              <a:pPr algn="l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3" r:id="rId2"/>
    <p:sldLayoutId id="2147483651" r:id="rId3"/>
    <p:sldLayoutId id="2147483660" r:id="rId4"/>
    <p:sldLayoutId id="2147483661" r:id="rId5"/>
    <p:sldLayoutId id="2147483659" r:id="rId6"/>
    <p:sldLayoutId id="2147483653" r:id="rId7"/>
    <p:sldLayoutId id="2147483654" r:id="rId8"/>
    <p:sldLayoutId id="2147483655" r:id="rId9"/>
    <p:sldLayoutId id="2147483656" r:id="rId10"/>
    <p:sldLayoutId id="2147483662" r:id="rId11"/>
    <p:sldLayoutId id="2147483657" r:id="rId12"/>
    <p:sldLayoutId id="2147483658" r:id="rId1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55600" indent="-355600" algn="l" rtl="0" eaLnBrk="1" fontAlgn="ctr" hangingPunct="1">
        <a:spcBef>
          <a:spcPct val="35000"/>
        </a:spcBef>
        <a:spcAft>
          <a:spcPct val="0"/>
        </a:spcAft>
        <a:buClr>
          <a:schemeClr val="tx2"/>
        </a:buClr>
        <a:buSzPct val="17500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812800" indent="-277813" algn="l" rtl="0" eaLnBrk="1" fontAlgn="ctr" hangingPunct="1">
        <a:spcBef>
          <a:spcPct val="0"/>
        </a:spcBef>
        <a:spcAft>
          <a:spcPct val="0"/>
        </a:spcAft>
        <a:buClr>
          <a:schemeClr val="tx1"/>
        </a:buClr>
        <a:buFont typeface="Arial" pitchFamily="34" charset="0"/>
        <a:buChar char="•"/>
        <a:defRPr sz="2000">
          <a:solidFill>
            <a:schemeClr val="tx1"/>
          </a:solidFill>
          <a:latin typeface="+mn-lt"/>
          <a:cs typeface="+mn-cs"/>
        </a:defRPr>
      </a:lvl2pPr>
      <a:lvl3pPr marL="1168400" indent="-176213" algn="l" rtl="0" eaLnBrk="1" fontAlgn="ctr" hangingPunct="1">
        <a:spcBef>
          <a:spcPct val="0"/>
        </a:spcBef>
        <a:spcAft>
          <a:spcPct val="0"/>
        </a:spcAft>
        <a:buFont typeface="Arial" pitchFamily="34" charset="0"/>
        <a:buChar char="–"/>
        <a:defRPr>
          <a:solidFill>
            <a:schemeClr val="tx1"/>
          </a:solidFill>
          <a:latin typeface="+mn-lt"/>
          <a:cs typeface="+mn-cs"/>
        </a:defRPr>
      </a:lvl3pPr>
      <a:lvl4pPr marL="1524000" indent="-176213" algn="l" rtl="0" eaLnBrk="1" fontAlgn="ctr" hangingPunct="1">
        <a:spcBef>
          <a:spcPct val="0"/>
        </a:spcBef>
        <a:spcAft>
          <a:spcPct val="0"/>
        </a:spcAft>
        <a:buFont typeface="Arial" pitchFamily="34" charset="0"/>
        <a:buChar char="–"/>
        <a:defRPr sz="1600">
          <a:solidFill>
            <a:schemeClr val="tx1"/>
          </a:solidFill>
          <a:latin typeface="+mn-lt"/>
          <a:cs typeface="+mn-cs"/>
        </a:defRPr>
      </a:lvl4pPr>
      <a:lvl5pPr marL="1879600" indent="-176213" algn="l" rtl="0" eaLnBrk="1" fontAlgn="base" hangingPunct="1">
        <a:spcBef>
          <a:spcPct val="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cs typeface="+mn-cs"/>
        </a:defRPr>
      </a:lvl5pPr>
      <a:lvl6pPr marL="2336800" indent="-176213" algn="l" rtl="0" eaLnBrk="1" fontAlgn="base" hangingPunct="1">
        <a:spcBef>
          <a:spcPct val="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cs typeface="+mn-cs"/>
        </a:defRPr>
      </a:lvl6pPr>
      <a:lvl7pPr marL="2794000" indent="-176213" algn="l" rtl="0" eaLnBrk="1" fontAlgn="base" hangingPunct="1">
        <a:spcBef>
          <a:spcPct val="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cs typeface="+mn-cs"/>
        </a:defRPr>
      </a:lvl7pPr>
      <a:lvl8pPr marL="3251200" indent="-176213" algn="l" rtl="0" eaLnBrk="1" fontAlgn="base" hangingPunct="1">
        <a:spcBef>
          <a:spcPct val="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cs typeface="+mn-cs"/>
        </a:defRPr>
      </a:lvl8pPr>
      <a:lvl9pPr marL="3708400" indent="-176213" algn="l" rtl="0" eaLnBrk="1" fontAlgn="base" hangingPunct="1">
        <a:spcBef>
          <a:spcPct val="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tif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kent.ac.uk/maps/canterbury/canterbury-campus/building/cornwallis-east" TargetMode="External"/><Relationship Id="rId3" Type="http://schemas.openxmlformats.org/officeDocument/2006/relationships/hyperlink" Target="https://www.kent.ac.uk/qstep/summerschool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467543" y="989116"/>
            <a:ext cx="4675956" cy="1728683"/>
          </a:xfrm>
        </p:spPr>
        <p:txBody>
          <a:bodyPr/>
          <a:lstStyle/>
          <a:p>
            <a:r>
              <a:rPr lang="en-US" dirty="0"/>
              <a:t>People and Politics:</a:t>
            </a:r>
            <a:endParaRPr lang="en-US" dirty="0" smtClean="0"/>
          </a:p>
          <a:p>
            <a:r>
              <a:rPr lang="en-US" dirty="0">
                <a:solidFill>
                  <a:srgbClr val="D6A300"/>
                </a:solidFill>
              </a:rPr>
              <a:t>C</a:t>
            </a:r>
            <a:r>
              <a:rPr lang="en-US" dirty="0" smtClean="0">
                <a:solidFill>
                  <a:srgbClr val="D6A300"/>
                </a:solidFill>
              </a:rPr>
              <a:t>ultures</a:t>
            </a:r>
            <a:r>
              <a:rPr lang="en-US" dirty="0">
                <a:solidFill>
                  <a:srgbClr val="D6A300"/>
                </a:solidFill>
              </a:rPr>
              <a:t>, values, attitudes, and </a:t>
            </a:r>
            <a:r>
              <a:rPr lang="en-US" dirty="0" err="1">
                <a:solidFill>
                  <a:srgbClr val="D6A300"/>
                </a:solidFill>
              </a:rPr>
              <a:t>behaviour</a:t>
            </a:r>
            <a:endParaRPr lang="en-US" dirty="0" smtClean="0">
              <a:solidFill>
                <a:srgbClr val="D6A300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7544" y="2819399"/>
            <a:ext cx="4675955" cy="1041663"/>
          </a:xfrm>
        </p:spPr>
        <p:txBody>
          <a:bodyPr/>
          <a:lstStyle/>
          <a:p>
            <a:pPr algn="r"/>
            <a:r>
              <a:rPr lang="en-US" dirty="0" smtClean="0"/>
              <a:t>PO327: Introduction to Comparative Politics</a:t>
            </a:r>
          </a:p>
          <a:p>
            <a:pPr algn="r"/>
            <a:endParaRPr lang="en-US" dirty="0" smtClean="0">
              <a:solidFill>
                <a:schemeClr val="bg1"/>
              </a:solidFill>
            </a:endParaRPr>
          </a:p>
          <a:p>
            <a:pPr algn="r"/>
            <a:r>
              <a:rPr lang="en-US" dirty="0" smtClean="0">
                <a:solidFill>
                  <a:schemeClr val="bg1"/>
                </a:solidFill>
              </a:rPr>
              <a:t>Erik Gahner Larsen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6105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Value programme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41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 smtClean="0"/>
              <a:t>Today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Political </a:t>
            </a:r>
            <a:r>
              <a:rPr lang="en-GB" dirty="0" smtClean="0"/>
              <a:t>culture</a:t>
            </a:r>
          </a:p>
          <a:p>
            <a:pPr lvl="1"/>
            <a:r>
              <a:rPr lang="en-GB" dirty="0" smtClean="0"/>
              <a:t>Definitions</a:t>
            </a:r>
          </a:p>
          <a:p>
            <a:pPr lvl="1"/>
            <a:r>
              <a:rPr lang="en-GB" dirty="0" smtClean="0"/>
              <a:t>Differences</a:t>
            </a:r>
          </a:p>
          <a:p>
            <a:pPr lvl="1"/>
            <a:r>
              <a:rPr lang="en-GB" dirty="0" smtClean="0"/>
              <a:t>Implications</a:t>
            </a:r>
          </a:p>
          <a:p>
            <a:endParaRPr lang="en-GB" dirty="0" smtClean="0"/>
          </a:p>
          <a:p>
            <a:r>
              <a:rPr lang="en-GB" dirty="0" smtClean="0"/>
              <a:t>Political trust and social capital</a:t>
            </a:r>
          </a:p>
          <a:p>
            <a:endParaRPr lang="en-GB" dirty="0"/>
          </a:p>
          <a:p>
            <a:r>
              <a:rPr lang="en-GB" dirty="0" smtClean="0"/>
              <a:t>Dangers to democracies</a:t>
            </a:r>
          </a:p>
          <a:p>
            <a:pPr lvl="1"/>
            <a:r>
              <a:rPr lang="en-GB" dirty="0" smtClean="0"/>
              <a:t>Lack of political participation</a:t>
            </a:r>
          </a:p>
          <a:p>
            <a:pPr lvl="1"/>
            <a:r>
              <a:rPr lang="en-GB" dirty="0" smtClean="0"/>
              <a:t>Declining feelings of political efficacy</a:t>
            </a:r>
          </a:p>
          <a:p>
            <a:pPr lvl="1"/>
            <a:r>
              <a:rPr lang="en-GB" dirty="0" smtClean="0"/>
              <a:t>Party-voter </a:t>
            </a:r>
            <a:r>
              <a:rPr lang="en-GB" dirty="0" err="1" smtClean="0"/>
              <a:t>dealignment</a:t>
            </a:r>
            <a:r>
              <a:rPr lang="en-GB" dirty="0" smtClean="0"/>
              <a:t> </a:t>
            </a:r>
            <a:endParaRPr lang="en-GB" dirty="0"/>
          </a:p>
          <a:p>
            <a:endParaRPr lang="en-GB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830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study people and politics? </a:t>
            </a:r>
            <a:r>
              <a:rPr lang="da-DK" dirty="0" err="1" smtClean="0"/>
              <a:t>Democracy</a:t>
            </a:r>
            <a:r>
              <a:rPr lang="da-DK" dirty="0" smtClean="0"/>
              <a:t> </a:t>
            </a:r>
            <a:endParaRPr lang="en-GB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Congruence between citizens and institutions is key to stability </a:t>
            </a:r>
          </a:p>
          <a:p>
            <a:pPr lvl="1"/>
            <a:r>
              <a:rPr lang="en-GB" dirty="0" smtClean="0"/>
              <a:t>If people do not feel institutions are working, democracy is at danger</a:t>
            </a:r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Democracy places high demands on citizens </a:t>
            </a:r>
          </a:p>
          <a:p>
            <a:endParaRPr lang="en-GB" dirty="0" smtClean="0"/>
          </a:p>
          <a:p>
            <a:r>
              <a:rPr lang="en-GB" dirty="0" smtClean="0"/>
              <a:t>Data from the World Values Survey can help us understand congruence</a:t>
            </a:r>
          </a:p>
          <a:p>
            <a:pPr lvl="1"/>
            <a:r>
              <a:rPr lang="en-GB" dirty="0" smtClean="0"/>
              <a:t>Measures on political trust, political efficacy etc.</a:t>
            </a:r>
            <a:endParaRPr lang="en-GB" dirty="0"/>
          </a:p>
          <a:p>
            <a:endParaRPr lang="en-GB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13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Why study people and politics? </a:t>
            </a:r>
            <a:endParaRPr lang="en-GB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Governments are affected by the society</a:t>
            </a:r>
          </a:p>
          <a:p>
            <a:pPr lvl="1"/>
            <a:r>
              <a:rPr lang="en-GB" dirty="0" smtClean="0"/>
              <a:t>Especially in democracies, but also in other types of political systems</a:t>
            </a:r>
          </a:p>
          <a:p>
            <a:endParaRPr lang="en-GB" dirty="0"/>
          </a:p>
          <a:p>
            <a:r>
              <a:rPr lang="en-GB" dirty="0" smtClean="0"/>
              <a:t>People have different values and attitudes with implications for the behavior of politicians and governments</a:t>
            </a:r>
          </a:p>
          <a:p>
            <a:pPr lvl="1"/>
            <a:r>
              <a:rPr lang="en-GB" dirty="0" smtClean="0"/>
              <a:t>Understanding values are crucial of we are to understand comparative politics</a:t>
            </a:r>
            <a:endParaRPr lang="en-GB" dirty="0" smtClean="0"/>
          </a:p>
          <a:p>
            <a:endParaRPr lang="en-GB" dirty="0"/>
          </a:p>
          <a:p>
            <a:r>
              <a:rPr lang="en-GB" dirty="0" smtClean="0"/>
              <a:t>Starting point: Political culture</a:t>
            </a:r>
            <a:endParaRPr lang="en-GB" dirty="0" smtClean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902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Political culture: definition</a:t>
            </a:r>
            <a:endParaRPr lang="en-GB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Multiple ways of defining political culture</a:t>
            </a:r>
          </a:p>
          <a:p>
            <a:r>
              <a:rPr lang="en-GB" dirty="0" smtClean="0"/>
              <a:t>Textbook definition(s): </a:t>
            </a:r>
          </a:p>
          <a:p>
            <a:pPr lvl="1"/>
            <a:r>
              <a:rPr lang="en-GB" dirty="0" smtClean="0"/>
              <a:t>The sum of </a:t>
            </a:r>
            <a:r>
              <a:rPr lang="en-GB" i="1" dirty="0" smtClean="0"/>
              <a:t>individual values</a:t>
            </a:r>
            <a:r>
              <a:rPr lang="en-GB" dirty="0" smtClean="0"/>
              <a:t> and norms regarding politics and the political system, </a:t>
            </a:r>
            <a:r>
              <a:rPr lang="en-GB" b="1" dirty="0" smtClean="0"/>
              <a:t>or</a:t>
            </a:r>
            <a:r>
              <a:rPr lang="en-GB" dirty="0" smtClean="0"/>
              <a:t> the </a:t>
            </a:r>
            <a:r>
              <a:rPr lang="en-GB" i="1" dirty="0" smtClean="0"/>
              <a:t>culture of a group</a:t>
            </a:r>
            <a:r>
              <a:rPr lang="en-GB" dirty="0" smtClean="0"/>
              <a:t> which gives shared meaning to political action.</a:t>
            </a:r>
          </a:p>
          <a:p>
            <a:r>
              <a:rPr lang="en-GB" dirty="0" smtClean="0"/>
              <a:t>Two aspects:</a:t>
            </a:r>
          </a:p>
          <a:p>
            <a:pPr lvl="1"/>
            <a:r>
              <a:rPr lang="en-GB" dirty="0" smtClean="0"/>
              <a:t>Sum of individual political </a:t>
            </a:r>
            <a:r>
              <a:rPr lang="en-GB" dirty="0"/>
              <a:t>v</a:t>
            </a:r>
            <a:r>
              <a:rPr lang="en-GB" dirty="0" smtClean="0"/>
              <a:t>alues and norms</a:t>
            </a:r>
          </a:p>
          <a:p>
            <a:pPr lvl="1"/>
            <a:r>
              <a:rPr lang="en-GB" dirty="0" smtClean="0"/>
              <a:t>Shared culture in a group for political action</a:t>
            </a:r>
          </a:p>
          <a:p>
            <a:r>
              <a:rPr lang="en-GB" dirty="0" smtClean="0"/>
              <a:t>Elite political culture: </a:t>
            </a:r>
          </a:p>
          <a:p>
            <a:pPr lvl="1"/>
            <a:r>
              <a:rPr lang="en-GB" dirty="0" smtClean="0"/>
              <a:t>“The values and norms regarding politics and the political system held by those closest to </a:t>
            </a:r>
            <a:r>
              <a:rPr lang="en-GB" i="1" dirty="0" smtClean="0"/>
              <a:t>the centres of political power</a:t>
            </a:r>
            <a:r>
              <a:rPr lang="en-GB" dirty="0" smtClean="0"/>
              <a:t>, including elected officials, bureaucrats, and business leaders.”</a:t>
            </a:r>
            <a:endParaRPr lang="en-GB" dirty="0" smtClean="0"/>
          </a:p>
          <a:p>
            <a:endParaRPr lang="en-GB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026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Elazar’s three types of political culture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Three types</a:t>
            </a:r>
          </a:p>
          <a:p>
            <a:pPr marL="992187" lvl="1" indent="-457200">
              <a:buFont typeface="+mj-lt"/>
              <a:buAutoNum type="arabicPeriod"/>
            </a:pPr>
            <a:r>
              <a:rPr lang="en-GB" dirty="0" smtClean="0"/>
              <a:t>Individualistic </a:t>
            </a:r>
            <a:r>
              <a:rPr lang="en-GB" dirty="0" smtClean="0"/>
              <a:t>culture</a:t>
            </a:r>
          </a:p>
          <a:p>
            <a:pPr lvl="2"/>
            <a:r>
              <a:rPr lang="en-GB" dirty="0" smtClean="0"/>
              <a:t>Politics as a marketplace</a:t>
            </a:r>
          </a:p>
          <a:p>
            <a:pPr lvl="2"/>
            <a:r>
              <a:rPr lang="en-GB" dirty="0" smtClean="0"/>
              <a:t>Political system to further own causes</a:t>
            </a:r>
          </a:p>
          <a:p>
            <a:pPr lvl="2"/>
            <a:r>
              <a:rPr lang="en-GB" dirty="0" smtClean="0"/>
              <a:t>Private concerns</a:t>
            </a:r>
          </a:p>
          <a:p>
            <a:pPr marL="992187" lvl="1" indent="-457200">
              <a:buFont typeface="+mj-lt"/>
              <a:buAutoNum type="arabicPeriod"/>
            </a:pPr>
            <a:r>
              <a:rPr lang="en-GB" dirty="0" smtClean="0"/>
              <a:t>Moralistic </a:t>
            </a:r>
            <a:r>
              <a:rPr lang="en-GB" dirty="0" smtClean="0"/>
              <a:t>culture</a:t>
            </a:r>
          </a:p>
          <a:p>
            <a:pPr lvl="2"/>
            <a:r>
              <a:rPr lang="en-GB" dirty="0" smtClean="0"/>
              <a:t>Government as a public service</a:t>
            </a:r>
          </a:p>
          <a:p>
            <a:pPr lvl="3"/>
            <a:r>
              <a:rPr lang="en-GB" dirty="0" smtClean="0"/>
              <a:t>Interest in public goods</a:t>
            </a:r>
          </a:p>
          <a:p>
            <a:pPr lvl="2"/>
            <a:r>
              <a:rPr lang="en-GB" dirty="0" smtClean="0"/>
              <a:t>Concerns about just </a:t>
            </a:r>
            <a:r>
              <a:rPr lang="en-GB" dirty="0" smtClean="0"/>
              <a:t>society</a:t>
            </a:r>
            <a:endParaRPr lang="en-GB" dirty="0" smtClean="0"/>
          </a:p>
          <a:p>
            <a:pPr marL="992187" lvl="1" indent="-457200">
              <a:buFont typeface="+mj-lt"/>
              <a:buAutoNum type="arabicPeriod"/>
            </a:pPr>
            <a:r>
              <a:rPr lang="en-GB" dirty="0" smtClean="0"/>
              <a:t>Traditionalistic culture</a:t>
            </a:r>
          </a:p>
          <a:p>
            <a:pPr lvl="2"/>
            <a:r>
              <a:rPr lang="en-GB" dirty="0" smtClean="0"/>
              <a:t>Preserving status </a:t>
            </a:r>
            <a:r>
              <a:rPr lang="en-GB" dirty="0" smtClean="0"/>
              <a:t>quo</a:t>
            </a:r>
          </a:p>
          <a:p>
            <a:pPr lvl="2"/>
            <a:endParaRPr lang="en-GB" dirty="0"/>
          </a:p>
          <a:p>
            <a:r>
              <a:rPr lang="en-GB" dirty="0" smtClean="0"/>
              <a:t>Which one is most present in the UK today?</a:t>
            </a:r>
          </a:p>
          <a:p>
            <a:pPr lvl="1"/>
            <a:r>
              <a:rPr lang="en-GB" dirty="0" smtClean="0"/>
              <a:t>Has it changed over time?</a:t>
            </a:r>
            <a:endParaRPr lang="en-GB" dirty="0"/>
          </a:p>
          <a:p>
            <a:pPr lvl="1"/>
            <a:r>
              <a:rPr lang="en-GB" dirty="0" smtClean="0"/>
              <a:t>Are some political cultures more present in other countries?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235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(</a:t>
            </a:r>
            <a:r>
              <a:rPr lang="en-GB" dirty="0" smtClean="0"/>
              <a:t>Civic) political </a:t>
            </a:r>
            <a:r>
              <a:rPr lang="en-GB" dirty="0"/>
              <a:t>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Civic cooperation and trust</a:t>
            </a:r>
          </a:p>
          <a:p>
            <a:r>
              <a:rPr lang="en-GB" dirty="0" smtClean="0"/>
              <a:t>Participatory culture</a:t>
            </a:r>
          </a:p>
          <a:p>
            <a:pPr lvl="1"/>
            <a:r>
              <a:rPr lang="en-GB" dirty="0" smtClean="0"/>
              <a:t>Moderate political culture</a:t>
            </a:r>
          </a:p>
          <a:p>
            <a:r>
              <a:rPr lang="en-GB" dirty="0" smtClean="0"/>
              <a:t>People are obligated to participate in politics</a:t>
            </a:r>
          </a:p>
          <a:p>
            <a:r>
              <a:rPr lang="en-GB" dirty="0" smtClean="0"/>
              <a:t>Tolerance towards </a:t>
            </a:r>
            <a:r>
              <a:rPr lang="en-GB" dirty="0"/>
              <a:t>opposition </a:t>
            </a:r>
            <a:r>
              <a:rPr lang="en-GB" dirty="0" smtClean="0"/>
              <a:t>parties</a:t>
            </a:r>
          </a:p>
          <a:p>
            <a:r>
              <a:rPr lang="en-GB" dirty="0" smtClean="0"/>
              <a:t>Acknowledging the authority of the state to take decisions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270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Political culture: Post-materialism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 culture with emphasis on self-expression</a:t>
            </a:r>
          </a:p>
          <a:p>
            <a:endParaRPr lang="en-GB" dirty="0" smtClean="0"/>
          </a:p>
          <a:p>
            <a:r>
              <a:rPr lang="en-GB" dirty="0" smtClean="0"/>
              <a:t>Quality of life &gt; materialist values</a:t>
            </a:r>
          </a:p>
          <a:p>
            <a:pPr lvl="1"/>
            <a:endParaRPr lang="en-GB" dirty="0" smtClean="0"/>
          </a:p>
          <a:p>
            <a:pPr lvl="1"/>
            <a:r>
              <a:rPr lang="en-GB" dirty="0" smtClean="0"/>
              <a:t>Materialist values: Economic growth, physical security</a:t>
            </a:r>
          </a:p>
          <a:p>
            <a:pPr lvl="1"/>
            <a:endParaRPr lang="en-GB" dirty="0" smtClean="0"/>
          </a:p>
          <a:p>
            <a:pPr lvl="1"/>
            <a:r>
              <a:rPr lang="en-GB" dirty="0" smtClean="0"/>
              <a:t>Self-expression/quality of life</a:t>
            </a:r>
          </a:p>
          <a:p>
            <a:pPr lvl="2"/>
            <a:r>
              <a:rPr lang="en-GB" dirty="0" smtClean="0"/>
              <a:t>Human diversity</a:t>
            </a:r>
          </a:p>
          <a:p>
            <a:pPr lvl="2"/>
            <a:r>
              <a:rPr lang="en-GB" dirty="0"/>
              <a:t>I</a:t>
            </a:r>
            <a:r>
              <a:rPr lang="en-GB" dirty="0" smtClean="0"/>
              <a:t>ndividual liberty</a:t>
            </a:r>
          </a:p>
          <a:p>
            <a:pPr lvl="2"/>
            <a:r>
              <a:rPr lang="en-GB" dirty="0"/>
              <a:t>A</a:t>
            </a:r>
            <a:r>
              <a:rPr lang="en-GB" dirty="0" smtClean="0"/>
              <a:t>utonomy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742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Political trust and social capital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Political trust</a:t>
            </a:r>
          </a:p>
          <a:p>
            <a:pPr lvl="1"/>
            <a:r>
              <a:rPr lang="en-GB" dirty="0" smtClean="0"/>
              <a:t>Belief that rulers are …</a:t>
            </a:r>
          </a:p>
          <a:p>
            <a:pPr lvl="2"/>
            <a:r>
              <a:rPr lang="en-GB" dirty="0" smtClean="0"/>
              <a:t>Well intentioned</a:t>
            </a:r>
          </a:p>
          <a:p>
            <a:pPr lvl="2"/>
            <a:r>
              <a:rPr lang="en-GB" dirty="0" smtClean="0"/>
              <a:t>Effective in serving the interests of the people</a:t>
            </a:r>
          </a:p>
          <a:p>
            <a:pPr lvl="1"/>
            <a:r>
              <a:rPr lang="en-GB" dirty="0" smtClean="0"/>
              <a:t>Trust in…</a:t>
            </a:r>
          </a:p>
          <a:p>
            <a:pPr lvl="2"/>
            <a:r>
              <a:rPr lang="en-GB" dirty="0" smtClean="0"/>
              <a:t>Parliaments </a:t>
            </a:r>
          </a:p>
          <a:p>
            <a:pPr lvl="2"/>
            <a:r>
              <a:rPr lang="en-GB" dirty="0" smtClean="0"/>
              <a:t>Governments</a:t>
            </a:r>
          </a:p>
          <a:p>
            <a:pPr lvl="2"/>
            <a:r>
              <a:rPr lang="en-GB" dirty="0" smtClean="0"/>
              <a:t>Politicians </a:t>
            </a:r>
          </a:p>
          <a:p>
            <a:pPr lvl="2"/>
            <a:r>
              <a:rPr lang="en-GB" dirty="0" smtClean="0"/>
              <a:t>The European Parliament</a:t>
            </a:r>
          </a:p>
          <a:p>
            <a:pPr lvl="2"/>
            <a:r>
              <a:rPr lang="en-GB" dirty="0" smtClean="0"/>
              <a:t>etc.</a:t>
            </a:r>
          </a:p>
          <a:p>
            <a:r>
              <a:rPr lang="en-GB" dirty="0" smtClean="0"/>
              <a:t>Social capital</a:t>
            </a:r>
          </a:p>
          <a:p>
            <a:pPr lvl="1"/>
            <a:r>
              <a:rPr lang="en-GB" dirty="0" smtClean="0"/>
              <a:t>Collective value of social networks</a:t>
            </a:r>
          </a:p>
          <a:p>
            <a:pPr lvl="1"/>
            <a:r>
              <a:rPr lang="en-GB" dirty="0" smtClean="0"/>
              <a:t>Derived from communication, help and support among the members of social networks.</a:t>
            </a:r>
          </a:p>
          <a:p>
            <a:pPr lvl="1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947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 smtClean="0"/>
              <a:t>Dangers</a:t>
            </a:r>
            <a:r>
              <a:rPr lang="da-DK" dirty="0" smtClean="0"/>
              <a:t> to </a:t>
            </a:r>
            <a:r>
              <a:rPr lang="da-DK" dirty="0" err="1"/>
              <a:t>democracies</a:t>
            </a:r>
            <a:r>
              <a:rPr lang="da-DK" dirty="0"/>
              <a:t> </a:t>
            </a:r>
            <a:endParaRPr lang="en-GB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The political culture rests on</a:t>
            </a:r>
          </a:p>
          <a:p>
            <a:pPr lvl="1"/>
            <a:r>
              <a:rPr lang="en-GB" dirty="0" smtClean="0"/>
              <a:t>Political participation</a:t>
            </a:r>
          </a:p>
          <a:p>
            <a:pPr lvl="1"/>
            <a:r>
              <a:rPr lang="en-GB" dirty="0" smtClean="0"/>
              <a:t>Feelings of political efficacy</a:t>
            </a:r>
          </a:p>
          <a:p>
            <a:pPr lvl="1"/>
            <a:r>
              <a:rPr lang="en-GB" dirty="0" smtClean="0"/>
              <a:t>Party-voter alignment</a:t>
            </a:r>
          </a:p>
          <a:p>
            <a:pPr lvl="1"/>
            <a:endParaRPr lang="en-GB" dirty="0" smtClean="0"/>
          </a:p>
          <a:p>
            <a:r>
              <a:rPr lang="en-GB" dirty="0" smtClean="0"/>
              <a:t>Dangers:</a:t>
            </a:r>
            <a:endParaRPr lang="en-GB" dirty="0" smtClean="0"/>
          </a:p>
          <a:p>
            <a:pPr lvl="1"/>
            <a:r>
              <a:rPr lang="en-GB" dirty="0" smtClean="0"/>
              <a:t>Lack of political participation</a:t>
            </a:r>
          </a:p>
          <a:p>
            <a:pPr lvl="1"/>
            <a:r>
              <a:rPr lang="en-GB" dirty="0" smtClean="0"/>
              <a:t>Declining feelings of political efficacy</a:t>
            </a:r>
          </a:p>
          <a:p>
            <a:pPr lvl="1"/>
            <a:r>
              <a:rPr lang="en-GB" dirty="0" smtClean="0"/>
              <a:t>Party-voter </a:t>
            </a:r>
            <a:r>
              <a:rPr lang="en-GB" dirty="0" err="1" smtClean="0"/>
              <a:t>dealignment</a:t>
            </a:r>
            <a:r>
              <a:rPr lang="en-GB" dirty="0" smtClean="0"/>
              <a:t> </a:t>
            </a:r>
            <a:endParaRPr lang="en-GB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886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Political</a:t>
            </a:r>
            <a:r>
              <a:rPr lang="da-DK" dirty="0"/>
              <a:t> </a:t>
            </a:r>
            <a:r>
              <a:rPr lang="da-DK" dirty="0" smtClean="0"/>
              <a:t>participation</a:t>
            </a:r>
            <a:r>
              <a:rPr lang="da-DK" dirty="0"/>
              <a:t>: a definition </a:t>
            </a:r>
            <a:endParaRPr lang="en-GB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 classic definition: ”Those legal activities by private citizens that are more or less directly aimed at influencing the selection of governmental personnel and/or the actions they take.” (</a:t>
            </a:r>
            <a:r>
              <a:rPr lang="en-GB" dirty="0" err="1" smtClean="0"/>
              <a:t>Verba</a:t>
            </a:r>
            <a:r>
              <a:rPr lang="en-GB" dirty="0" smtClean="0"/>
              <a:t>, </a:t>
            </a:r>
            <a:r>
              <a:rPr lang="en-GB" dirty="0" err="1" smtClean="0"/>
              <a:t>Nie</a:t>
            </a:r>
            <a:r>
              <a:rPr lang="en-GB" dirty="0" smtClean="0"/>
              <a:t> and Kim, 1978: 46) </a:t>
            </a:r>
          </a:p>
          <a:p>
            <a:endParaRPr lang="en-GB" dirty="0" smtClean="0"/>
          </a:p>
          <a:p>
            <a:r>
              <a:rPr lang="en-GB" dirty="0" smtClean="0"/>
              <a:t>What do you think of this definition?</a:t>
            </a:r>
            <a:endParaRPr lang="en-GB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633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What</a:t>
            </a:r>
            <a:r>
              <a:rPr lang="da-DK" dirty="0"/>
              <a:t> is </a:t>
            </a:r>
            <a:r>
              <a:rPr lang="da-DK" dirty="0" err="1"/>
              <a:t>political</a:t>
            </a:r>
            <a:r>
              <a:rPr lang="da-DK" dirty="0"/>
              <a:t> participation in </a:t>
            </a:r>
            <a:r>
              <a:rPr lang="da-DK" dirty="0" err="1"/>
              <a:t>practice</a:t>
            </a:r>
            <a:r>
              <a:rPr lang="da-DK" dirty="0"/>
              <a:t>? </a:t>
            </a:r>
            <a:endParaRPr lang="en-GB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Political participation: Activity formally intended to influence who governs or the decisions taken by those who do</a:t>
            </a:r>
          </a:p>
          <a:p>
            <a:endParaRPr lang="en-GB" dirty="0" smtClean="0"/>
          </a:p>
          <a:p>
            <a:pPr lvl="1"/>
            <a:r>
              <a:rPr lang="en-GB" dirty="0" smtClean="0"/>
              <a:t>Conventional participation: takes place within formal politics and the law</a:t>
            </a:r>
          </a:p>
          <a:p>
            <a:pPr lvl="1"/>
            <a:endParaRPr lang="en-GB" dirty="0" smtClean="0"/>
          </a:p>
          <a:p>
            <a:pPr lvl="1"/>
            <a:r>
              <a:rPr lang="en-GB" dirty="0" smtClean="0"/>
              <a:t>Unconventional participation: takes place outside formal politics or/and the law.</a:t>
            </a:r>
            <a:endParaRPr lang="en-GB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639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Political participation: forms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14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423941"/>
              </p:ext>
            </p:extLst>
          </p:nvPr>
        </p:nvGraphicFramePr>
        <p:xfrm>
          <a:off x="152400" y="1125538"/>
          <a:ext cx="8991600" cy="536416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190436"/>
                <a:gridCol w="6801164"/>
              </a:tblGrid>
              <a:tr h="2066205">
                <a:tc>
                  <a:txBody>
                    <a:bodyPr/>
                    <a:lstStyle/>
                    <a:p>
                      <a:r>
                        <a:rPr lang="en-GB" b="1" dirty="0" smtClean="0">
                          <a:solidFill>
                            <a:schemeClr val="tx1"/>
                          </a:solidFill>
                        </a:rPr>
                        <a:t>Conventional</a:t>
                      </a:r>
                      <a:endParaRPr lang="en-GB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 smtClean="0">
                          <a:solidFill>
                            <a:schemeClr val="tx1"/>
                          </a:solidFill>
                        </a:rPr>
                        <a:t>Voting in elections </a:t>
                      </a:r>
                    </a:p>
                    <a:p>
                      <a:r>
                        <a:rPr lang="en-GB" b="0" dirty="0" smtClean="0">
                          <a:solidFill>
                            <a:schemeClr val="tx1"/>
                          </a:solidFill>
                        </a:rPr>
                        <a:t>Joining or donating to political parties</a:t>
                      </a:r>
                    </a:p>
                    <a:p>
                      <a:r>
                        <a:rPr lang="en-GB" b="0" dirty="0" smtClean="0">
                          <a:solidFill>
                            <a:schemeClr val="tx1"/>
                          </a:solidFill>
                        </a:rPr>
                        <a:t>Joining, supporting or donating to interest groups</a:t>
                      </a:r>
                    </a:p>
                    <a:p>
                      <a:r>
                        <a:rPr lang="en-GB" b="0" dirty="0" smtClean="0">
                          <a:solidFill>
                            <a:schemeClr val="tx1"/>
                          </a:solidFill>
                        </a:rPr>
                        <a:t>Contacting</a:t>
                      </a:r>
                      <a:r>
                        <a:rPr lang="en-GB" b="0" baseline="0" dirty="0" smtClean="0">
                          <a:solidFill>
                            <a:schemeClr val="tx1"/>
                          </a:solidFill>
                        </a:rPr>
                        <a:t> elected representatives</a:t>
                      </a:r>
                    </a:p>
                    <a:p>
                      <a:r>
                        <a:rPr lang="en-GB" b="0" baseline="0" dirty="0" smtClean="0">
                          <a:solidFill>
                            <a:schemeClr val="tx1"/>
                          </a:solidFill>
                        </a:rPr>
                        <a:t>Volunteering in political campaigns or running elections</a:t>
                      </a:r>
                    </a:p>
                    <a:p>
                      <a:r>
                        <a:rPr lang="en-GB" b="0" baseline="0" dirty="0" smtClean="0">
                          <a:solidFill>
                            <a:schemeClr val="tx1"/>
                          </a:solidFill>
                        </a:rPr>
                        <a:t>Organizing community campaigns</a:t>
                      </a:r>
                    </a:p>
                    <a:p>
                      <a:r>
                        <a:rPr lang="en-GB" b="0" baseline="0" dirty="0" smtClean="0">
                          <a:solidFill>
                            <a:schemeClr val="tx1"/>
                          </a:solidFill>
                        </a:rPr>
                        <a:t>Attending political rallies or meetings</a:t>
                      </a:r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1784450">
                <a:tc>
                  <a:txBody>
                    <a:bodyPr/>
                    <a:lstStyle/>
                    <a:p>
                      <a:r>
                        <a:rPr lang="en-GB" b="1" dirty="0" smtClean="0">
                          <a:solidFill>
                            <a:schemeClr val="tx1"/>
                          </a:solidFill>
                        </a:rPr>
                        <a:t>Less conventional/</a:t>
                      </a:r>
                    </a:p>
                    <a:p>
                      <a:r>
                        <a:rPr lang="en-GB" b="1" dirty="0" smtClean="0">
                          <a:solidFill>
                            <a:schemeClr val="tx1"/>
                          </a:solidFill>
                        </a:rPr>
                        <a:t>unconventional</a:t>
                      </a:r>
                      <a:endParaRPr lang="en-GB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 smtClean="0">
                          <a:solidFill>
                            <a:schemeClr val="tx1"/>
                          </a:solidFill>
                        </a:rPr>
                        <a:t>Taking part in peaceful</a:t>
                      </a:r>
                      <a:r>
                        <a:rPr lang="en-GB" b="0" baseline="0" dirty="0" smtClean="0">
                          <a:solidFill>
                            <a:schemeClr val="tx1"/>
                          </a:solidFill>
                        </a:rPr>
                        <a:t> demonstrations or protests</a:t>
                      </a:r>
                    </a:p>
                    <a:p>
                      <a:r>
                        <a:rPr lang="en-GB" b="0" baseline="0" dirty="0" smtClean="0">
                          <a:solidFill>
                            <a:schemeClr val="tx1"/>
                          </a:solidFill>
                        </a:rPr>
                        <a:t>Mobilizing or expressing opinion through social media</a:t>
                      </a:r>
                    </a:p>
                    <a:p>
                      <a:r>
                        <a:rPr lang="en-GB" b="0" baseline="0" dirty="0" smtClean="0">
                          <a:solidFill>
                            <a:schemeClr val="tx1"/>
                          </a:solidFill>
                        </a:rPr>
                        <a:t>Posting comments on online news stories</a:t>
                      </a:r>
                    </a:p>
                    <a:p>
                      <a:r>
                        <a:rPr lang="en-GB" b="0" baseline="0" dirty="0" smtClean="0">
                          <a:solidFill>
                            <a:schemeClr val="tx1"/>
                          </a:solidFill>
                        </a:rPr>
                        <a:t>Signing petitions</a:t>
                      </a:r>
                    </a:p>
                    <a:p>
                      <a:r>
                        <a:rPr lang="en-GB" b="0" baseline="0" dirty="0" smtClean="0">
                          <a:solidFill>
                            <a:schemeClr val="tx1"/>
                          </a:solidFill>
                        </a:rPr>
                        <a:t>Organizing or taking part in consumer boycotts</a:t>
                      </a:r>
                    </a:p>
                    <a:p>
                      <a:r>
                        <a:rPr lang="en-GB" b="0" baseline="0" dirty="0" smtClean="0">
                          <a:solidFill>
                            <a:schemeClr val="tx1"/>
                          </a:solidFill>
                        </a:rPr>
                        <a:t>Writing letters to media outlets</a:t>
                      </a:r>
                    </a:p>
                  </a:txBody>
                  <a:tcPr/>
                </a:tc>
              </a:tr>
              <a:tr h="1513507">
                <a:tc>
                  <a:txBody>
                    <a:bodyPr/>
                    <a:lstStyle/>
                    <a:p>
                      <a:r>
                        <a:rPr lang="en-GB" b="1" dirty="0" smtClean="0">
                          <a:solidFill>
                            <a:schemeClr val="tx1"/>
                          </a:solidFill>
                        </a:rPr>
                        <a:t>Illegal</a:t>
                      </a:r>
                      <a:endParaRPr lang="en-GB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 smtClean="0">
                          <a:solidFill>
                            <a:schemeClr val="tx1"/>
                          </a:solidFill>
                        </a:rPr>
                        <a:t>Civil disobedience</a:t>
                      </a:r>
                    </a:p>
                    <a:p>
                      <a:r>
                        <a:rPr lang="en-GB" b="0" dirty="0" smtClean="0">
                          <a:solidFill>
                            <a:schemeClr val="tx1"/>
                          </a:solidFill>
                        </a:rPr>
                        <a:t>Occupation of buildings or public spaces</a:t>
                      </a:r>
                    </a:p>
                    <a:p>
                      <a:r>
                        <a:rPr lang="en-GB" b="0" dirty="0" smtClean="0">
                          <a:solidFill>
                            <a:schemeClr val="tx1"/>
                          </a:solidFill>
                        </a:rPr>
                        <a:t>Sabotaging</a:t>
                      </a:r>
                      <a:r>
                        <a:rPr lang="en-GB" b="0" baseline="0" dirty="0" smtClean="0">
                          <a:solidFill>
                            <a:schemeClr val="tx1"/>
                          </a:solidFill>
                        </a:rPr>
                        <a:t> the efforts of parties, candidates, or elected officials</a:t>
                      </a:r>
                    </a:p>
                    <a:p>
                      <a:r>
                        <a:rPr lang="en-GB" b="0" baseline="0" dirty="0" smtClean="0">
                          <a:solidFill>
                            <a:schemeClr val="tx1"/>
                          </a:solidFill>
                        </a:rPr>
                        <a:t>Politically motivated crime</a:t>
                      </a:r>
                    </a:p>
                    <a:p>
                      <a:r>
                        <a:rPr lang="en-GB" b="0" baseline="0" dirty="0" smtClean="0">
                          <a:solidFill>
                            <a:schemeClr val="tx1"/>
                          </a:solidFill>
                        </a:rPr>
                        <a:t>Political violence, including terrorism and assassination</a:t>
                      </a:r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1257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Political</a:t>
            </a:r>
            <a:r>
              <a:rPr lang="da-DK" dirty="0"/>
              <a:t> </a:t>
            </a:r>
            <a:r>
              <a:rPr lang="da-DK" dirty="0" err="1" smtClean="0"/>
              <a:t>efficacy</a:t>
            </a:r>
            <a:r>
              <a:rPr lang="da-DK" dirty="0" smtClean="0"/>
              <a:t>: </a:t>
            </a:r>
            <a:r>
              <a:rPr lang="da-DK" dirty="0" err="1" smtClean="0"/>
              <a:t>internal</a:t>
            </a:r>
            <a:r>
              <a:rPr lang="da-DK" dirty="0" smtClean="0"/>
              <a:t> and </a:t>
            </a:r>
            <a:r>
              <a:rPr lang="da-DK" dirty="0" err="1" smtClean="0"/>
              <a:t>external</a:t>
            </a:r>
            <a:endParaRPr lang="en-GB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”The feeling that individual political action does have, or can have, an impact upon the political process, i.e. that it is worth while to perform ones civic duties” (Campbell/</a:t>
            </a:r>
            <a:r>
              <a:rPr lang="en-GB" dirty="0" err="1" smtClean="0"/>
              <a:t>Gurin</a:t>
            </a:r>
            <a:r>
              <a:rPr lang="en-GB" dirty="0" smtClean="0"/>
              <a:t>/Miller 1954: 187) </a:t>
            </a:r>
          </a:p>
          <a:p>
            <a:r>
              <a:rPr lang="en-GB" dirty="0" smtClean="0"/>
              <a:t>Internal efficacy</a:t>
            </a:r>
            <a:endParaRPr lang="en-GB" dirty="0" smtClean="0"/>
          </a:p>
          <a:p>
            <a:pPr lvl="1"/>
            <a:r>
              <a:rPr lang="en-GB" dirty="0" smtClean="0"/>
              <a:t>The self-confidence in your ability to understand and participate in politics </a:t>
            </a:r>
          </a:p>
          <a:p>
            <a:r>
              <a:rPr lang="en-GB" dirty="0" smtClean="0"/>
              <a:t>External efficacy</a:t>
            </a:r>
            <a:endParaRPr lang="en-GB" dirty="0" smtClean="0"/>
          </a:p>
          <a:p>
            <a:pPr lvl="1"/>
            <a:r>
              <a:rPr lang="en-GB" dirty="0" smtClean="0"/>
              <a:t>Your trust in the responsiveness of government to citizens demands </a:t>
            </a:r>
          </a:p>
          <a:p>
            <a:endParaRPr lang="en-GB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726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Political</a:t>
            </a:r>
            <a:r>
              <a:rPr lang="da-DK" dirty="0"/>
              <a:t> </a:t>
            </a:r>
            <a:r>
              <a:rPr lang="da-DK" dirty="0" err="1"/>
              <a:t>efficacy</a:t>
            </a:r>
            <a:r>
              <a:rPr lang="da-DK" dirty="0"/>
              <a:t>: </a:t>
            </a:r>
            <a:r>
              <a:rPr lang="da-DK" dirty="0" err="1"/>
              <a:t>internal</a:t>
            </a:r>
            <a:r>
              <a:rPr lang="da-DK" dirty="0"/>
              <a:t> and </a:t>
            </a:r>
            <a:r>
              <a:rPr lang="da-DK" dirty="0" err="1"/>
              <a:t>external</a:t>
            </a:r>
            <a:endParaRPr lang="en-GB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smtClean="0"/>
              <a:t>Internal efficacy</a:t>
            </a:r>
            <a:r>
              <a:rPr lang="en-GB" dirty="0" smtClean="0"/>
              <a:t>: If people do not understand, they shy away. </a:t>
            </a:r>
          </a:p>
          <a:p>
            <a:pPr lvl="1"/>
            <a:r>
              <a:rPr lang="en-GB" dirty="0" smtClean="0"/>
              <a:t>More informed citizens are better citizens </a:t>
            </a:r>
          </a:p>
          <a:p>
            <a:pPr lvl="1"/>
            <a:r>
              <a:rPr lang="en-GB" dirty="0" smtClean="0"/>
              <a:t>Social capital and networks ease participation </a:t>
            </a:r>
          </a:p>
          <a:p>
            <a:pPr lvl="1"/>
            <a:r>
              <a:rPr lang="en-GB" b="1" dirty="0" smtClean="0"/>
              <a:t>The key to internal efficacy is knowledge </a:t>
            </a:r>
          </a:p>
          <a:p>
            <a:pPr lvl="1"/>
            <a:endParaRPr lang="en-GB" dirty="0" smtClean="0"/>
          </a:p>
          <a:p>
            <a:r>
              <a:rPr lang="en-GB" b="1" dirty="0" smtClean="0"/>
              <a:t>External efficacy</a:t>
            </a:r>
            <a:r>
              <a:rPr lang="en-GB" dirty="0" smtClean="0"/>
              <a:t>: when political trust is low political disaffection and alienation prevail </a:t>
            </a:r>
          </a:p>
          <a:p>
            <a:pPr lvl="1"/>
            <a:r>
              <a:rPr lang="en-GB" dirty="0" smtClean="0"/>
              <a:t>Accountability</a:t>
            </a:r>
          </a:p>
          <a:p>
            <a:pPr lvl="1"/>
            <a:r>
              <a:rPr lang="en-GB" dirty="0" smtClean="0"/>
              <a:t>Government responsiveness</a:t>
            </a:r>
          </a:p>
          <a:p>
            <a:pPr lvl="1"/>
            <a:r>
              <a:rPr lang="en-GB" b="1" dirty="0" smtClean="0"/>
              <a:t>The key to external efficacy is trust </a:t>
            </a:r>
          </a:p>
          <a:p>
            <a:endParaRPr lang="en-GB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133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Political</a:t>
            </a:r>
            <a:r>
              <a:rPr lang="da-DK" dirty="0"/>
              <a:t> </a:t>
            </a:r>
            <a:r>
              <a:rPr lang="da-DK" dirty="0" err="1"/>
              <a:t>efficacy</a:t>
            </a:r>
            <a:r>
              <a:rPr lang="da-DK" dirty="0"/>
              <a:t>: </a:t>
            </a:r>
            <a:r>
              <a:rPr lang="da-DK" dirty="0" err="1"/>
              <a:t>internal</a:t>
            </a:r>
            <a:r>
              <a:rPr lang="da-DK" dirty="0"/>
              <a:t> and </a:t>
            </a:r>
            <a:r>
              <a:rPr lang="da-DK" dirty="0" err="1"/>
              <a:t>external</a:t>
            </a:r>
            <a:endParaRPr lang="en-GB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How to </a:t>
            </a:r>
            <a:r>
              <a:rPr lang="da-DK" dirty="0" err="1"/>
              <a:t>boost</a:t>
            </a:r>
            <a:r>
              <a:rPr lang="da-DK" dirty="0"/>
              <a:t> </a:t>
            </a:r>
            <a:r>
              <a:rPr lang="da-DK" dirty="0" err="1"/>
              <a:t>internal</a:t>
            </a:r>
            <a:r>
              <a:rPr lang="da-DK" dirty="0"/>
              <a:t> </a:t>
            </a:r>
            <a:r>
              <a:rPr lang="da-DK" dirty="0" err="1"/>
              <a:t>efficacy</a:t>
            </a:r>
            <a:r>
              <a:rPr lang="da-DK" dirty="0"/>
              <a:t>? </a:t>
            </a:r>
            <a:r>
              <a:rPr lang="da-DK" dirty="0" smtClean="0"/>
              <a:t>Knowledge</a:t>
            </a:r>
            <a:endParaRPr lang="da-DK" dirty="0"/>
          </a:p>
          <a:p>
            <a:pPr lvl="1"/>
            <a:r>
              <a:rPr lang="da-DK" dirty="0" err="1" smtClean="0"/>
              <a:t>Making</a:t>
            </a:r>
            <a:r>
              <a:rPr lang="da-DK" dirty="0" smtClean="0"/>
              <a:t> </a:t>
            </a:r>
            <a:r>
              <a:rPr lang="da-DK" dirty="0" err="1"/>
              <a:t>politically</a:t>
            </a:r>
            <a:r>
              <a:rPr lang="da-DK" dirty="0"/>
              <a:t> relevant information </a:t>
            </a:r>
            <a:r>
              <a:rPr lang="da-DK" dirty="0" err="1" smtClean="0"/>
              <a:t>accessible</a:t>
            </a:r>
            <a:endParaRPr lang="da-DK" dirty="0" smtClean="0"/>
          </a:p>
          <a:p>
            <a:pPr lvl="1"/>
            <a:endParaRPr lang="da-DK" dirty="0"/>
          </a:p>
          <a:p>
            <a:pPr lvl="1"/>
            <a:r>
              <a:rPr lang="da-DK" dirty="0" err="1" smtClean="0"/>
              <a:t>Monitoring</a:t>
            </a:r>
            <a:r>
              <a:rPr lang="da-DK" dirty="0" smtClean="0"/>
              <a:t> </a:t>
            </a:r>
            <a:r>
              <a:rPr lang="da-DK" dirty="0"/>
              <a:t>the </a:t>
            </a:r>
            <a:r>
              <a:rPr lang="da-DK" dirty="0" err="1"/>
              <a:t>quality</a:t>
            </a:r>
            <a:r>
              <a:rPr lang="da-DK" dirty="0"/>
              <a:t> of the media </a:t>
            </a:r>
            <a:r>
              <a:rPr lang="da-DK" dirty="0" smtClean="0"/>
              <a:t>system</a:t>
            </a:r>
          </a:p>
          <a:p>
            <a:pPr lvl="2"/>
            <a:r>
              <a:rPr lang="da-DK" dirty="0" err="1" smtClean="0"/>
              <a:t>Freedom</a:t>
            </a:r>
            <a:r>
              <a:rPr lang="da-DK" dirty="0" smtClean="0"/>
              <a:t> </a:t>
            </a:r>
            <a:r>
              <a:rPr lang="da-DK" dirty="0"/>
              <a:t>House </a:t>
            </a:r>
            <a:endParaRPr lang="da-DK" dirty="0" smtClean="0"/>
          </a:p>
          <a:p>
            <a:pPr lvl="1"/>
            <a:endParaRPr lang="da-DK" dirty="0" smtClean="0"/>
          </a:p>
          <a:p>
            <a:r>
              <a:rPr lang="da-DK" dirty="0" smtClean="0"/>
              <a:t>How </a:t>
            </a:r>
            <a:r>
              <a:rPr lang="da-DK" dirty="0"/>
              <a:t>to </a:t>
            </a:r>
            <a:r>
              <a:rPr lang="da-DK" dirty="0" err="1"/>
              <a:t>boost</a:t>
            </a:r>
            <a:r>
              <a:rPr lang="da-DK" dirty="0"/>
              <a:t> </a:t>
            </a:r>
            <a:r>
              <a:rPr lang="da-DK" dirty="0" err="1"/>
              <a:t>external</a:t>
            </a:r>
            <a:r>
              <a:rPr lang="da-DK" dirty="0"/>
              <a:t> </a:t>
            </a:r>
            <a:r>
              <a:rPr lang="da-DK" dirty="0" err="1"/>
              <a:t>efficacy</a:t>
            </a:r>
            <a:r>
              <a:rPr lang="da-DK" dirty="0"/>
              <a:t>? </a:t>
            </a:r>
            <a:r>
              <a:rPr lang="da-DK" dirty="0" smtClean="0"/>
              <a:t>Trust</a:t>
            </a:r>
            <a:endParaRPr lang="da-DK" dirty="0" smtClean="0"/>
          </a:p>
          <a:p>
            <a:pPr lvl="1"/>
            <a:r>
              <a:rPr lang="da-DK" dirty="0" err="1" smtClean="0"/>
              <a:t>Promoting</a:t>
            </a:r>
            <a:r>
              <a:rPr lang="da-DK" dirty="0" smtClean="0"/>
              <a:t> </a:t>
            </a:r>
            <a:r>
              <a:rPr lang="da-DK" dirty="0" err="1" smtClean="0"/>
              <a:t>transparency</a:t>
            </a:r>
            <a:endParaRPr lang="da-DK" dirty="0" smtClean="0"/>
          </a:p>
          <a:p>
            <a:pPr lvl="1"/>
            <a:endParaRPr lang="da-DK" dirty="0"/>
          </a:p>
          <a:p>
            <a:pPr lvl="1"/>
            <a:r>
              <a:rPr lang="da-DK" dirty="0" err="1" smtClean="0"/>
              <a:t>Fighting</a:t>
            </a:r>
            <a:r>
              <a:rPr lang="da-DK" dirty="0" smtClean="0"/>
              <a:t> </a:t>
            </a:r>
            <a:r>
              <a:rPr lang="da-DK" dirty="0" err="1" smtClean="0"/>
              <a:t>corruption</a:t>
            </a:r>
            <a:endParaRPr lang="da-DK" dirty="0" smtClean="0"/>
          </a:p>
          <a:p>
            <a:pPr lvl="1"/>
            <a:endParaRPr lang="da-DK" dirty="0"/>
          </a:p>
          <a:p>
            <a:pPr lvl="1"/>
            <a:r>
              <a:rPr lang="da-DK" dirty="0" err="1" smtClean="0"/>
              <a:t>Considering</a:t>
            </a:r>
            <a:r>
              <a:rPr lang="da-DK" dirty="0" smtClean="0"/>
              <a:t> </a:t>
            </a:r>
            <a:r>
              <a:rPr lang="da-DK" dirty="0" err="1"/>
              <a:t>electoral</a:t>
            </a:r>
            <a:r>
              <a:rPr lang="da-DK" dirty="0"/>
              <a:t> reforms </a:t>
            </a:r>
            <a:endParaRPr lang="da-DK" dirty="0" smtClean="0"/>
          </a:p>
          <a:p>
            <a:pPr lvl="2"/>
            <a:r>
              <a:rPr lang="da-DK" dirty="0" err="1" smtClean="0"/>
              <a:t>Examples</a:t>
            </a:r>
            <a:r>
              <a:rPr lang="da-DK" dirty="0" smtClean="0"/>
              <a:t>? </a:t>
            </a:r>
            <a:r>
              <a:rPr lang="da-DK" dirty="0" err="1" smtClean="0"/>
              <a:t>Where</a:t>
            </a:r>
            <a:r>
              <a:rPr lang="da-DK" dirty="0" smtClean="0"/>
              <a:t> do </a:t>
            </a:r>
            <a:r>
              <a:rPr lang="da-DK" dirty="0" err="1" smtClean="0"/>
              <a:t>we</a:t>
            </a:r>
            <a:r>
              <a:rPr lang="da-DK" dirty="0" smtClean="0"/>
              <a:t> find </a:t>
            </a:r>
            <a:r>
              <a:rPr lang="da-DK" dirty="0" err="1" smtClean="0"/>
              <a:t>discussions</a:t>
            </a:r>
            <a:r>
              <a:rPr lang="da-DK" dirty="0" smtClean="0"/>
              <a:t> </a:t>
            </a:r>
            <a:r>
              <a:rPr lang="da-DK" dirty="0" err="1" smtClean="0"/>
              <a:t>about</a:t>
            </a:r>
            <a:r>
              <a:rPr lang="da-DK" dirty="0" smtClean="0"/>
              <a:t> </a:t>
            </a:r>
            <a:r>
              <a:rPr lang="da-DK" dirty="0" err="1" smtClean="0"/>
              <a:t>this</a:t>
            </a:r>
            <a:r>
              <a:rPr lang="da-DK" dirty="0" smtClean="0"/>
              <a:t> at the moment?</a:t>
            </a:r>
            <a:endParaRPr lang="da-DK" dirty="0"/>
          </a:p>
          <a:p>
            <a:endParaRPr lang="en-GB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1426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Party-voter </a:t>
            </a:r>
            <a:r>
              <a:rPr lang="da-DK" dirty="0" err="1"/>
              <a:t>dealignment</a:t>
            </a:r>
            <a:r>
              <a:rPr lang="da-DK" dirty="0"/>
              <a:t> </a:t>
            </a:r>
            <a:endParaRPr lang="en-GB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In representative democracies: </a:t>
            </a:r>
          </a:p>
          <a:p>
            <a:pPr lvl="1"/>
            <a:r>
              <a:rPr lang="en-GB" dirty="0" smtClean="0"/>
              <a:t>Parties connect citizens and government </a:t>
            </a:r>
          </a:p>
          <a:p>
            <a:endParaRPr lang="en-GB" dirty="0" smtClean="0"/>
          </a:p>
          <a:p>
            <a:r>
              <a:rPr lang="en-GB" dirty="0" smtClean="0"/>
              <a:t>When voters abandon their partisan affiliation without developing a new one the connection is lost </a:t>
            </a:r>
          </a:p>
          <a:p>
            <a:endParaRPr lang="en-GB" dirty="0"/>
          </a:p>
          <a:p>
            <a:r>
              <a:rPr lang="en-GB" dirty="0" smtClean="0"/>
              <a:t>Implication: Important that people feel that (at least) one political party represents their interests</a:t>
            </a:r>
          </a:p>
          <a:p>
            <a:endParaRPr lang="en-GB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567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Party-voter </a:t>
            </a:r>
            <a:r>
              <a:rPr lang="da-DK" dirty="0" err="1" smtClean="0"/>
              <a:t>dealignment</a:t>
            </a:r>
            <a:r>
              <a:rPr lang="da-DK" dirty="0" smtClean="0"/>
              <a:t>: </a:t>
            </a:r>
            <a:r>
              <a:rPr lang="en-GB" dirty="0" smtClean="0"/>
              <a:t>Populism</a:t>
            </a:r>
            <a:endParaRPr lang="en-GB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19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4562"/>
            <a:ext cx="9144000" cy="495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071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Party-voter </a:t>
            </a:r>
            <a:r>
              <a:rPr lang="da-DK" dirty="0" err="1"/>
              <a:t>dealignment</a:t>
            </a:r>
            <a:r>
              <a:rPr lang="da-DK" dirty="0"/>
              <a:t>: </a:t>
            </a:r>
            <a:r>
              <a:rPr lang="en-GB" dirty="0" smtClean="0"/>
              <a:t>Populism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Rise </a:t>
            </a:r>
            <a:r>
              <a:rPr lang="en-GB" dirty="0"/>
              <a:t>of populism in Western </a:t>
            </a:r>
            <a:r>
              <a:rPr lang="en-GB" dirty="0" smtClean="0"/>
              <a:t>democracies</a:t>
            </a:r>
          </a:p>
          <a:p>
            <a:endParaRPr lang="en-GB" dirty="0" smtClean="0"/>
          </a:p>
          <a:p>
            <a:r>
              <a:rPr lang="en-GB" dirty="0" smtClean="0"/>
              <a:t>Different explanations</a:t>
            </a:r>
          </a:p>
          <a:p>
            <a:pPr lvl="1"/>
            <a:r>
              <a:rPr lang="en-GB" dirty="0" smtClean="0"/>
              <a:t>Economic deprivation</a:t>
            </a:r>
          </a:p>
          <a:p>
            <a:pPr lvl="2"/>
            <a:r>
              <a:rPr lang="en-GB" dirty="0" smtClean="0"/>
              <a:t>Losers of globalization</a:t>
            </a:r>
          </a:p>
          <a:p>
            <a:pPr lvl="2"/>
            <a:endParaRPr lang="en-GB" dirty="0" smtClean="0"/>
          </a:p>
          <a:p>
            <a:pPr lvl="1"/>
            <a:r>
              <a:rPr lang="en-GB" dirty="0" smtClean="0"/>
              <a:t>Cultural backlash</a:t>
            </a:r>
          </a:p>
          <a:p>
            <a:pPr lvl="2"/>
            <a:r>
              <a:rPr lang="en-GB" dirty="0" smtClean="0"/>
              <a:t>Cultural </a:t>
            </a:r>
            <a:r>
              <a:rPr lang="en-GB" dirty="0"/>
              <a:t>cleavage dividing social liberals and social conservatives</a:t>
            </a:r>
          </a:p>
          <a:p>
            <a:pPr lvl="2"/>
            <a:endParaRPr lang="en-GB" dirty="0" smtClean="0"/>
          </a:p>
          <a:p>
            <a:pPr lvl="1"/>
            <a:r>
              <a:rPr lang="en-GB" dirty="0" smtClean="0"/>
              <a:t>Media attention</a:t>
            </a:r>
          </a:p>
          <a:p>
            <a:pPr lvl="2"/>
            <a:r>
              <a:rPr lang="en-GB" dirty="0" smtClean="0"/>
              <a:t>Press coverage and elite communication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1087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How do we study culture?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In most cases: Survey </a:t>
            </a:r>
            <a:r>
              <a:rPr lang="en-GB" dirty="0" smtClean="0"/>
              <a:t>data</a:t>
            </a:r>
          </a:p>
          <a:p>
            <a:pPr lvl="1"/>
            <a:r>
              <a:rPr lang="en-GB" dirty="0" smtClean="0"/>
              <a:t>Surveys of </a:t>
            </a:r>
            <a:r>
              <a:rPr lang="en-GB" dirty="0" smtClean="0"/>
              <a:t>individuals in different countries</a:t>
            </a:r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Example: </a:t>
            </a:r>
            <a:r>
              <a:rPr lang="en-GB" dirty="0" smtClean="0"/>
              <a:t>World </a:t>
            </a:r>
            <a:r>
              <a:rPr lang="en-GB" dirty="0" smtClean="0"/>
              <a:t>Values </a:t>
            </a:r>
            <a:r>
              <a:rPr lang="en-GB" dirty="0" smtClean="0"/>
              <a:t>Survey</a:t>
            </a:r>
          </a:p>
          <a:p>
            <a:pPr lvl="1"/>
            <a:r>
              <a:rPr lang="en-GB" dirty="0" smtClean="0"/>
              <a:t>Questions related to the concepts we have talked about today</a:t>
            </a:r>
          </a:p>
          <a:p>
            <a:pPr lvl="2"/>
            <a:r>
              <a:rPr lang="en-GB" dirty="0" smtClean="0"/>
              <a:t>Political culture, values and attitudes</a:t>
            </a:r>
          </a:p>
          <a:p>
            <a:pPr lvl="2"/>
            <a:r>
              <a:rPr lang="en-GB" dirty="0" smtClean="0"/>
              <a:t>Political participation</a:t>
            </a:r>
          </a:p>
          <a:p>
            <a:pPr lvl="2"/>
            <a:r>
              <a:rPr lang="en-GB" dirty="0" smtClean="0"/>
              <a:t>Political trust</a:t>
            </a:r>
          </a:p>
          <a:p>
            <a:pPr lvl="2"/>
            <a:r>
              <a:rPr lang="en-GB" dirty="0" smtClean="0"/>
              <a:t>Political efficacy</a:t>
            </a:r>
          </a:p>
          <a:p>
            <a:pPr lvl="2"/>
            <a:endParaRPr lang="en-GB" dirty="0"/>
          </a:p>
          <a:p>
            <a:pPr lvl="1"/>
            <a:r>
              <a:rPr lang="en-GB" dirty="0" smtClean="0"/>
              <a:t>You will work with this data in the data seminar</a:t>
            </a:r>
            <a:endParaRPr lang="en-GB" dirty="0" smtClean="0"/>
          </a:p>
          <a:p>
            <a:pPr lvl="2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2192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Seminar </a:t>
            </a:r>
            <a:r>
              <a:rPr lang="en-US" dirty="0" smtClean="0"/>
              <a:t>questions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Why </a:t>
            </a:r>
            <a:r>
              <a:rPr lang="en-US" dirty="0"/>
              <a:t>should we care about citizens' political trust? </a:t>
            </a:r>
            <a:br>
              <a:rPr lang="en-US" dirty="0"/>
            </a:br>
            <a:endParaRPr lang="en-US" dirty="0"/>
          </a:p>
          <a:p>
            <a:r>
              <a:rPr lang="en-US" dirty="0"/>
              <a:t>How and why has the confidence in political institutions changed over time?</a:t>
            </a:r>
            <a:br>
              <a:rPr lang="en-US" dirty="0"/>
            </a:br>
            <a:endParaRPr lang="en-US" dirty="0"/>
          </a:p>
          <a:p>
            <a:r>
              <a:rPr lang="en-US" dirty="0"/>
              <a:t>How will the rise of populism in Western countries affect the political culture in the future?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2711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Conclusion</a:t>
            </a:r>
            <a:endParaRPr lang="en-GB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political culture defines acceptance of institutions </a:t>
            </a:r>
            <a:endParaRPr lang="en-GB" dirty="0" smtClean="0"/>
          </a:p>
          <a:p>
            <a:pPr lvl="1"/>
            <a:r>
              <a:rPr lang="en-GB" dirty="0" smtClean="0"/>
              <a:t>Crucial for the survival of institutions</a:t>
            </a:r>
            <a:endParaRPr lang="en-GB" dirty="0"/>
          </a:p>
          <a:p>
            <a:endParaRPr lang="en-GB" dirty="0" smtClean="0"/>
          </a:p>
          <a:p>
            <a:r>
              <a:rPr lang="en-GB" dirty="0" smtClean="0"/>
              <a:t>Norms and values matter</a:t>
            </a:r>
          </a:p>
          <a:p>
            <a:pPr lvl="1"/>
            <a:r>
              <a:rPr lang="en-GB" dirty="0" smtClean="0"/>
              <a:t>Society’s prevailing beliefs norms and values shape the political culture </a:t>
            </a:r>
          </a:p>
          <a:p>
            <a:endParaRPr lang="en-GB" dirty="0" smtClean="0"/>
          </a:p>
          <a:p>
            <a:r>
              <a:rPr lang="en-GB" dirty="0" smtClean="0"/>
              <a:t>Important for democratic institutions</a:t>
            </a:r>
          </a:p>
          <a:p>
            <a:pPr lvl="1"/>
            <a:r>
              <a:rPr lang="en-GB" dirty="0" smtClean="0"/>
              <a:t>Political participation </a:t>
            </a:r>
          </a:p>
          <a:p>
            <a:pPr lvl="1"/>
            <a:r>
              <a:rPr lang="en-GB" dirty="0" smtClean="0"/>
              <a:t>Political efficacy</a:t>
            </a:r>
            <a:endParaRPr lang="en-GB" dirty="0"/>
          </a:p>
          <a:p>
            <a:pPr lvl="1"/>
            <a:r>
              <a:rPr lang="en-GB" dirty="0" smtClean="0"/>
              <a:t>Party-voter alignment </a:t>
            </a:r>
            <a:endParaRPr lang="en-GB" dirty="0">
              <a:effectLst/>
            </a:endParaRP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6550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Quant GROUP Summer School</a:t>
            </a:r>
            <a:endParaRPr lang="en-GB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152400" y="1484313"/>
            <a:ext cx="8596313" cy="4897437"/>
          </a:xfrm>
        </p:spPr>
        <p:txBody>
          <a:bodyPr/>
          <a:lstStyle/>
          <a:p>
            <a:r>
              <a:rPr lang="en-US" dirty="0"/>
              <a:t>The course will run for two weeks from Monday 18 June to Saturday 30 June 2018.</a:t>
            </a:r>
          </a:p>
          <a:p>
            <a:r>
              <a:rPr lang="en-US" dirty="0"/>
              <a:t>The course has an official price-tag of £1,500 (including accommodation). </a:t>
            </a:r>
            <a:endParaRPr lang="en-US" dirty="0" smtClean="0"/>
          </a:p>
          <a:p>
            <a:pPr lvl="1"/>
            <a:r>
              <a:rPr lang="en-US" dirty="0" smtClean="0"/>
              <a:t>You can </a:t>
            </a:r>
            <a:r>
              <a:rPr lang="en-US" dirty="0"/>
              <a:t>apply for a bursary to cover the entire cost.</a:t>
            </a:r>
          </a:p>
          <a:p>
            <a:r>
              <a:rPr lang="en-US" dirty="0"/>
              <a:t>Registration for the course will open on </a:t>
            </a:r>
            <a:r>
              <a:rPr lang="en-US" dirty="0" smtClean="0"/>
              <a:t>Thursday 1 </a:t>
            </a:r>
            <a:r>
              <a:rPr lang="en-US" dirty="0"/>
              <a:t>March 2018.</a:t>
            </a:r>
          </a:p>
          <a:p>
            <a:r>
              <a:rPr lang="en-US" dirty="0" smtClean="0"/>
              <a:t>Information event </a:t>
            </a:r>
            <a:r>
              <a:rPr lang="en-US" dirty="0"/>
              <a:t>at 13.00 on Wednesday 21 </a:t>
            </a:r>
            <a:r>
              <a:rPr lang="en-US" dirty="0" smtClean="0"/>
              <a:t>March</a:t>
            </a:r>
          </a:p>
          <a:p>
            <a:pPr lvl="1"/>
            <a:r>
              <a:rPr lang="en-US" dirty="0" smtClean="0"/>
              <a:t>Room </a:t>
            </a:r>
            <a:r>
              <a:rPr lang="en-US" dirty="0"/>
              <a:t>329 on the third floor, </a:t>
            </a:r>
            <a:r>
              <a:rPr lang="en-US" dirty="0">
                <a:hlinkClick r:id="rId2" tooltip="Map and Directrions to Cornwallis East"/>
              </a:rPr>
              <a:t>Cornwallis </a:t>
            </a:r>
            <a:r>
              <a:rPr lang="en-US" dirty="0" smtClean="0">
                <a:hlinkClick r:id="rId2" tooltip="Map and Directrions to Cornwallis East"/>
              </a:rPr>
              <a:t>East</a:t>
            </a:r>
            <a:endParaRPr lang="en-GB" dirty="0"/>
          </a:p>
          <a:p>
            <a:r>
              <a:rPr lang="en-GB" dirty="0"/>
              <a:t>More information: </a:t>
            </a:r>
            <a:r>
              <a:rPr lang="en-GB" dirty="0">
                <a:hlinkClick r:id="rId3"/>
              </a:rPr>
              <a:t>https://</a:t>
            </a:r>
            <a:r>
              <a:rPr lang="en-GB" dirty="0" smtClean="0">
                <a:hlinkClick r:id="rId3"/>
              </a:rPr>
              <a:t>www.kent.ac.uk/qstep/summerschool.html</a:t>
            </a:r>
            <a:r>
              <a:rPr lang="en-GB" dirty="0" smtClean="0"/>
              <a:t> </a:t>
            </a:r>
            <a:endParaRPr lang="en-US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62874"/>
      </p:ext>
    </p:extLst>
  </p:cSld>
  <p:clrMapOvr>
    <a:masterClrMapping/>
  </p:clrMapOvr>
</p:sld>
</file>

<file path=ppt/theme/theme1.xml><?xml version="1.0" encoding="utf-8"?>
<a:theme xmlns:a="http://schemas.openxmlformats.org/drawingml/2006/main" name="kent2013">
  <a:themeElements>
    <a:clrScheme name="bulletsandcolours 1">
      <a:dk1>
        <a:srgbClr val="000000"/>
      </a:dk1>
      <a:lt1>
        <a:srgbClr val="FFFFFF"/>
      </a:lt1>
      <a:dk2>
        <a:srgbClr val="003882"/>
      </a:dk2>
      <a:lt2>
        <a:srgbClr val="808080"/>
      </a:lt2>
      <a:accent1>
        <a:srgbClr val="008AC4"/>
      </a:accent1>
      <a:accent2>
        <a:srgbClr val="A8034F"/>
      </a:accent2>
      <a:accent3>
        <a:srgbClr val="FFFFFF"/>
      </a:accent3>
      <a:accent4>
        <a:srgbClr val="000000"/>
      </a:accent4>
      <a:accent5>
        <a:srgbClr val="AAC4DE"/>
      </a:accent5>
      <a:accent6>
        <a:srgbClr val="980247"/>
      </a:accent6>
      <a:hlink>
        <a:srgbClr val="007A5E"/>
      </a:hlink>
      <a:folHlink>
        <a:srgbClr val="DE5433"/>
      </a:folHlink>
    </a:clrScheme>
    <a:fontScheme name="bulletsandcolours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=""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=""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=""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=""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bulletsandcolours 1">
        <a:dk1>
          <a:srgbClr val="000000"/>
        </a:dk1>
        <a:lt1>
          <a:srgbClr val="FFFFFF"/>
        </a:lt1>
        <a:dk2>
          <a:srgbClr val="003882"/>
        </a:dk2>
        <a:lt2>
          <a:srgbClr val="808080"/>
        </a:lt2>
        <a:accent1>
          <a:srgbClr val="008AC4"/>
        </a:accent1>
        <a:accent2>
          <a:srgbClr val="A8034F"/>
        </a:accent2>
        <a:accent3>
          <a:srgbClr val="FFFFFF"/>
        </a:accent3>
        <a:accent4>
          <a:srgbClr val="000000"/>
        </a:accent4>
        <a:accent5>
          <a:srgbClr val="AAC4DE"/>
        </a:accent5>
        <a:accent6>
          <a:srgbClr val="980247"/>
        </a:accent6>
        <a:hlink>
          <a:srgbClr val="007A5E"/>
        </a:hlink>
        <a:folHlink>
          <a:srgbClr val="DE54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lletsandcolours 2">
        <a:dk1>
          <a:srgbClr val="000000"/>
        </a:dk1>
        <a:lt1>
          <a:srgbClr val="F9F8F5"/>
        </a:lt1>
        <a:dk2>
          <a:srgbClr val="003882"/>
        </a:dk2>
        <a:lt2>
          <a:srgbClr val="808080"/>
        </a:lt2>
        <a:accent1>
          <a:srgbClr val="008AC4"/>
        </a:accent1>
        <a:accent2>
          <a:srgbClr val="A8034F"/>
        </a:accent2>
        <a:accent3>
          <a:srgbClr val="FBFBF9"/>
        </a:accent3>
        <a:accent4>
          <a:srgbClr val="000000"/>
        </a:accent4>
        <a:accent5>
          <a:srgbClr val="AAC4DE"/>
        </a:accent5>
        <a:accent6>
          <a:srgbClr val="980247"/>
        </a:accent6>
        <a:hlink>
          <a:srgbClr val="007A5E"/>
        </a:hlink>
        <a:folHlink>
          <a:srgbClr val="DE54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lletsandcolours 3">
        <a:dk1>
          <a:srgbClr val="000000"/>
        </a:dk1>
        <a:lt1>
          <a:srgbClr val="FFFFFF"/>
        </a:lt1>
        <a:dk2>
          <a:srgbClr val="003882"/>
        </a:dk2>
        <a:lt2>
          <a:srgbClr val="808080"/>
        </a:lt2>
        <a:accent1>
          <a:srgbClr val="008AC4"/>
        </a:accent1>
        <a:accent2>
          <a:srgbClr val="B8CCDE"/>
        </a:accent2>
        <a:accent3>
          <a:srgbClr val="FFFFFF"/>
        </a:accent3>
        <a:accent4>
          <a:srgbClr val="000000"/>
        </a:accent4>
        <a:accent5>
          <a:srgbClr val="AAC4DE"/>
        </a:accent5>
        <a:accent6>
          <a:srgbClr val="A6B9C9"/>
        </a:accent6>
        <a:hlink>
          <a:srgbClr val="00789C"/>
        </a:hlink>
        <a:folHlink>
          <a:srgbClr val="82B8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lletsandcolours 4">
        <a:dk1>
          <a:srgbClr val="000000"/>
        </a:dk1>
        <a:lt1>
          <a:srgbClr val="F9F8F5"/>
        </a:lt1>
        <a:dk2>
          <a:srgbClr val="003882"/>
        </a:dk2>
        <a:lt2>
          <a:srgbClr val="808080"/>
        </a:lt2>
        <a:accent1>
          <a:srgbClr val="008AC4"/>
        </a:accent1>
        <a:accent2>
          <a:srgbClr val="B8CCDE"/>
        </a:accent2>
        <a:accent3>
          <a:srgbClr val="FBFBF9"/>
        </a:accent3>
        <a:accent4>
          <a:srgbClr val="000000"/>
        </a:accent4>
        <a:accent5>
          <a:srgbClr val="AAC4DE"/>
        </a:accent5>
        <a:accent6>
          <a:srgbClr val="A6B9C9"/>
        </a:accent6>
        <a:hlink>
          <a:srgbClr val="00789C"/>
        </a:hlink>
        <a:folHlink>
          <a:srgbClr val="82B8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lletsandcolours 5">
        <a:dk1>
          <a:srgbClr val="000000"/>
        </a:dk1>
        <a:lt1>
          <a:srgbClr val="FFFFFF"/>
        </a:lt1>
        <a:dk2>
          <a:srgbClr val="003882"/>
        </a:dk2>
        <a:lt2>
          <a:srgbClr val="808080"/>
        </a:lt2>
        <a:accent1>
          <a:srgbClr val="B4035C"/>
        </a:accent1>
        <a:accent2>
          <a:srgbClr val="E29A74"/>
        </a:accent2>
        <a:accent3>
          <a:srgbClr val="FFFFFF"/>
        </a:accent3>
        <a:accent4>
          <a:srgbClr val="000000"/>
        </a:accent4>
        <a:accent5>
          <a:srgbClr val="D6AAB5"/>
        </a:accent5>
        <a:accent6>
          <a:srgbClr val="CD8B68"/>
        </a:accent6>
        <a:hlink>
          <a:srgbClr val="80293D"/>
        </a:hlink>
        <a:folHlink>
          <a:srgbClr val="D1242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lletsandcolours 6">
        <a:dk1>
          <a:srgbClr val="000000"/>
        </a:dk1>
        <a:lt1>
          <a:srgbClr val="F9F8F5"/>
        </a:lt1>
        <a:dk2>
          <a:srgbClr val="003882"/>
        </a:dk2>
        <a:lt2>
          <a:srgbClr val="808080"/>
        </a:lt2>
        <a:accent1>
          <a:srgbClr val="B4035C"/>
        </a:accent1>
        <a:accent2>
          <a:srgbClr val="E29A74"/>
        </a:accent2>
        <a:accent3>
          <a:srgbClr val="FBFBF9"/>
        </a:accent3>
        <a:accent4>
          <a:srgbClr val="000000"/>
        </a:accent4>
        <a:accent5>
          <a:srgbClr val="D6AAB5"/>
        </a:accent5>
        <a:accent6>
          <a:srgbClr val="CD8B68"/>
        </a:accent6>
        <a:hlink>
          <a:srgbClr val="80293D"/>
        </a:hlink>
        <a:folHlink>
          <a:srgbClr val="D1242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lletsandcolours 7">
        <a:dk1>
          <a:srgbClr val="000000"/>
        </a:dk1>
        <a:lt1>
          <a:srgbClr val="FFFFFF"/>
        </a:lt1>
        <a:dk2>
          <a:srgbClr val="003882"/>
        </a:dk2>
        <a:lt2>
          <a:srgbClr val="808080"/>
        </a:lt2>
        <a:accent1>
          <a:srgbClr val="664A78"/>
        </a:accent1>
        <a:accent2>
          <a:srgbClr val="A891B0"/>
        </a:accent2>
        <a:accent3>
          <a:srgbClr val="FFFFFF"/>
        </a:accent3>
        <a:accent4>
          <a:srgbClr val="000000"/>
        </a:accent4>
        <a:accent5>
          <a:srgbClr val="B8B1BE"/>
        </a:accent5>
        <a:accent6>
          <a:srgbClr val="98839F"/>
        </a:accent6>
        <a:hlink>
          <a:srgbClr val="C985A3"/>
        </a:hlink>
        <a:folHlink>
          <a:srgbClr val="DEADB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lletsandcolours 8">
        <a:dk1>
          <a:srgbClr val="000000"/>
        </a:dk1>
        <a:lt1>
          <a:srgbClr val="FFFFFF"/>
        </a:lt1>
        <a:dk2>
          <a:srgbClr val="003882"/>
        </a:dk2>
        <a:lt2>
          <a:srgbClr val="808080"/>
        </a:lt2>
        <a:accent1>
          <a:srgbClr val="007A5E"/>
        </a:accent1>
        <a:accent2>
          <a:srgbClr val="A8B50A"/>
        </a:accent2>
        <a:accent3>
          <a:srgbClr val="FFFFFF"/>
        </a:accent3>
        <a:accent4>
          <a:srgbClr val="000000"/>
        </a:accent4>
        <a:accent5>
          <a:srgbClr val="AABEB6"/>
        </a:accent5>
        <a:accent6>
          <a:srgbClr val="98A408"/>
        </a:accent6>
        <a:hlink>
          <a:srgbClr val="75A38C"/>
        </a:hlink>
        <a:folHlink>
          <a:srgbClr val="D6DE6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lletsandcolours 9">
        <a:dk1>
          <a:srgbClr val="000000"/>
        </a:dk1>
        <a:lt1>
          <a:srgbClr val="FFFFFF"/>
        </a:lt1>
        <a:dk2>
          <a:srgbClr val="003882"/>
        </a:dk2>
        <a:lt2>
          <a:srgbClr val="808080"/>
        </a:lt2>
        <a:accent1>
          <a:srgbClr val="DE5433"/>
        </a:accent1>
        <a:accent2>
          <a:srgbClr val="E87D0D"/>
        </a:accent2>
        <a:accent3>
          <a:srgbClr val="FFFFFF"/>
        </a:accent3>
        <a:accent4>
          <a:srgbClr val="000000"/>
        </a:accent4>
        <a:accent5>
          <a:srgbClr val="ECB3AD"/>
        </a:accent5>
        <a:accent6>
          <a:srgbClr val="D2710B"/>
        </a:accent6>
        <a:hlink>
          <a:srgbClr val="FA8A75"/>
        </a:hlink>
        <a:folHlink>
          <a:srgbClr val="EDBD3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lletsandcolours 10">
        <a:dk1>
          <a:srgbClr val="000000"/>
        </a:dk1>
        <a:lt1>
          <a:srgbClr val="F9F8F5"/>
        </a:lt1>
        <a:dk2>
          <a:srgbClr val="003882"/>
        </a:dk2>
        <a:lt2>
          <a:srgbClr val="808080"/>
        </a:lt2>
        <a:accent1>
          <a:srgbClr val="664A78"/>
        </a:accent1>
        <a:accent2>
          <a:srgbClr val="A891B0"/>
        </a:accent2>
        <a:accent3>
          <a:srgbClr val="FBFBF9"/>
        </a:accent3>
        <a:accent4>
          <a:srgbClr val="000000"/>
        </a:accent4>
        <a:accent5>
          <a:srgbClr val="B8B1BE"/>
        </a:accent5>
        <a:accent6>
          <a:srgbClr val="98839F"/>
        </a:accent6>
        <a:hlink>
          <a:srgbClr val="C985A3"/>
        </a:hlink>
        <a:folHlink>
          <a:srgbClr val="DEADB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lletsandcolours 11">
        <a:dk1>
          <a:srgbClr val="000000"/>
        </a:dk1>
        <a:lt1>
          <a:srgbClr val="F9F8F5"/>
        </a:lt1>
        <a:dk2>
          <a:srgbClr val="003882"/>
        </a:dk2>
        <a:lt2>
          <a:srgbClr val="808080"/>
        </a:lt2>
        <a:accent1>
          <a:srgbClr val="007A5E"/>
        </a:accent1>
        <a:accent2>
          <a:srgbClr val="A8B50A"/>
        </a:accent2>
        <a:accent3>
          <a:srgbClr val="FBFBF9"/>
        </a:accent3>
        <a:accent4>
          <a:srgbClr val="000000"/>
        </a:accent4>
        <a:accent5>
          <a:srgbClr val="AABEB6"/>
        </a:accent5>
        <a:accent6>
          <a:srgbClr val="98A408"/>
        </a:accent6>
        <a:hlink>
          <a:srgbClr val="75A38C"/>
        </a:hlink>
        <a:folHlink>
          <a:srgbClr val="D6DE6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lletsandcolours 12">
        <a:dk1>
          <a:srgbClr val="000000"/>
        </a:dk1>
        <a:lt1>
          <a:srgbClr val="F9F8F5"/>
        </a:lt1>
        <a:dk2>
          <a:srgbClr val="003882"/>
        </a:dk2>
        <a:lt2>
          <a:srgbClr val="808080"/>
        </a:lt2>
        <a:accent1>
          <a:srgbClr val="DE5433"/>
        </a:accent1>
        <a:accent2>
          <a:srgbClr val="E87D0D"/>
        </a:accent2>
        <a:accent3>
          <a:srgbClr val="FBFBF9"/>
        </a:accent3>
        <a:accent4>
          <a:srgbClr val="000000"/>
        </a:accent4>
        <a:accent5>
          <a:srgbClr val="ECB3AD"/>
        </a:accent5>
        <a:accent6>
          <a:srgbClr val="D2710B"/>
        </a:accent6>
        <a:hlink>
          <a:srgbClr val="FA8A75"/>
        </a:hlink>
        <a:folHlink>
          <a:srgbClr val="EDBD3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4295</TotalTime>
  <Words>1170</Words>
  <Application>Microsoft Macintosh PowerPoint</Application>
  <PresentationFormat>On-screen Show (4:3)</PresentationFormat>
  <Paragraphs>243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Century Schoolbook</vt:lpstr>
      <vt:lpstr>Arial</vt:lpstr>
      <vt:lpstr>kent2013</vt:lpstr>
      <vt:lpstr>PowerPoint Presentation</vt:lpstr>
      <vt:lpstr>Value programme</vt:lpstr>
      <vt:lpstr>Today</vt:lpstr>
      <vt:lpstr>Why study people and politics? Democracy </vt:lpstr>
      <vt:lpstr>Why study people and politics? </vt:lpstr>
      <vt:lpstr>Political culture: definition</vt:lpstr>
      <vt:lpstr>Elazar’s three types of political culture</vt:lpstr>
      <vt:lpstr>(Civic) political culture</vt:lpstr>
      <vt:lpstr>Political culture: Post-materialism</vt:lpstr>
      <vt:lpstr>Political trust and social capital</vt:lpstr>
      <vt:lpstr>Dangers to democracies </vt:lpstr>
      <vt:lpstr>Political participation: a definition </vt:lpstr>
      <vt:lpstr>What is political participation in practice? </vt:lpstr>
      <vt:lpstr>Political participation: forms</vt:lpstr>
      <vt:lpstr>Political efficacy: internal and external</vt:lpstr>
      <vt:lpstr>Political efficacy: internal and external</vt:lpstr>
      <vt:lpstr>Political efficacy: internal and external</vt:lpstr>
      <vt:lpstr>Party-voter dealignment </vt:lpstr>
      <vt:lpstr>Party-voter dealignment: Populism</vt:lpstr>
      <vt:lpstr>Party-voter dealignment: Populism</vt:lpstr>
      <vt:lpstr>How do we study culture?</vt:lpstr>
      <vt:lpstr>Seminar questions</vt:lpstr>
      <vt:lpstr>Conclusion</vt:lpstr>
      <vt:lpstr>Quant GROUP Summer School</vt:lpstr>
    </vt:vector>
  </TitlesOfParts>
  <Manager/>
  <Company>University of Kent</Company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of Kent - Generic Powerpoint template</dc:title>
  <dc:subject/>
  <dc:creator>Miles Banbery</dc:creator>
  <cp:keywords/>
  <dc:description/>
  <cp:lastModifiedBy>Erik Gahner Larsen</cp:lastModifiedBy>
  <cp:revision>163</cp:revision>
  <dcterms:created xsi:type="dcterms:W3CDTF">2013-06-07T14:52:08Z</dcterms:created>
  <dcterms:modified xsi:type="dcterms:W3CDTF">2018-02-23T16:19:24Z</dcterms:modified>
  <cp:category/>
</cp:coreProperties>
</file>